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DDF0EE"/>
        </a:solidFill>
        <a:effectLst/>
      </p:bgPr>
    </p:bg>
    <p:spTree>
      <p:nvGrpSpPr>
        <p:cNvPr id="1" name=""/>
        <p:cNvGrpSpPr/>
        <p:nvPr/>
      </p:nvGrpSpPr>
      <p:grpSpPr/>
      <p:sp>
        <p:nvSpPr>
          <p:cNvPr id="2" name="Rectangle 1"/>
          <p:cNvSpPr/>
          <p:nvPr/>
        </p:nvSpPr>
        <p:spPr>
          <a:xfrm>
            <a:off x="8076895" y="0"/>
            <a:ext cx="4114800" cy="4114800"/>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448495" y="0"/>
            <a:ext cx="2743200" cy="2743200"/>
          </a:xfrm>
          <a:prstGeom prst="rect">
            <a:avLst/>
          </a:prstGeom>
          <a:solidFill>
            <a:srgbClr val="B4E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11535" y="164592"/>
            <a:ext cx="1097280" cy="274320"/>
          </a:xfrm>
          <a:prstGeom prst="rect">
            <a:avLst/>
          </a:prstGeom>
          <a:noFill/>
        </p:spPr>
        <p:txBody>
          <a:bodyPr wrap="square">
            <a:spAutoFit/>
          </a:bodyPr>
          <a:lstStyle/>
          <a:p>
            <a:pPr algn="r"/>
            <a:r>
              <a:rPr sz="900" b="0" i="0">
                <a:solidFill>
                  <a:srgbClr val="969698"/>
                </a:solidFill>
                <a:latin typeface="Calibri"/>
              </a:rPr>
              <a:t>01 / 11</a:t>
            </a:r>
          </a:p>
        </p:txBody>
      </p:sp>
      <p:sp>
        <p:nvSpPr>
          <p:cNvPr id="5" name="TextBox 4"/>
          <p:cNvSpPr txBox="1"/>
          <p:nvPr/>
        </p:nvSpPr>
        <p:spPr>
          <a:xfrm>
            <a:off x="502920" y="2011680"/>
            <a:ext cx="5486400" cy="274320"/>
          </a:xfrm>
          <a:prstGeom prst="rect">
            <a:avLst/>
          </a:prstGeom>
          <a:noFill/>
        </p:spPr>
        <p:txBody>
          <a:bodyPr wrap="square">
            <a:spAutoFit/>
          </a:bodyPr>
          <a:lstStyle/>
          <a:p>
            <a:pPr algn="l"/>
            <a:r>
              <a:rPr sz="1000" b="1" i="0">
                <a:solidFill>
                  <a:srgbClr val="D69A2D"/>
                </a:solidFill>
                <a:latin typeface="Calibri"/>
              </a:rPr>
              <a:t>FEASIBILITY RESEARCH</a:t>
            </a:r>
          </a:p>
        </p:txBody>
      </p:sp>
      <p:sp>
        <p:nvSpPr>
          <p:cNvPr id="6" name="TextBox 5"/>
          <p:cNvSpPr txBox="1"/>
          <p:nvPr/>
        </p:nvSpPr>
        <p:spPr>
          <a:xfrm>
            <a:off x="502920" y="2331720"/>
            <a:ext cx="6858000" cy="1645920"/>
          </a:xfrm>
          <a:prstGeom prst="rect">
            <a:avLst/>
          </a:prstGeom>
          <a:noFill/>
        </p:spPr>
        <p:txBody>
          <a:bodyPr wrap="square">
            <a:spAutoFit/>
          </a:bodyPr>
          <a:lstStyle/>
          <a:p>
            <a:pPr algn="l"/>
            <a:r>
              <a:rPr sz="4400" b="0" i="0">
                <a:solidFill>
                  <a:srgbClr val="008C95"/>
                </a:solidFill>
                <a:latin typeface="Georgia"/>
              </a:rPr>
              <a:t>Return Verification System</a:t>
            </a:r>
          </a:p>
        </p:txBody>
      </p:sp>
      <p:sp>
        <p:nvSpPr>
          <p:cNvPr id="7" name="Rectangle 6"/>
          <p:cNvSpPr/>
          <p:nvPr/>
        </p:nvSpPr>
        <p:spPr>
          <a:xfrm>
            <a:off x="502920" y="4114800"/>
            <a:ext cx="2926080" cy="9144"/>
          </a:xfrm>
          <a:prstGeom prst="rect">
            <a:avLst/>
          </a:prstGeom>
          <a:solidFill>
            <a:srgbClr val="D69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4297680"/>
            <a:ext cx="6400800" cy="457200"/>
          </a:xfrm>
          <a:prstGeom prst="rect">
            <a:avLst/>
          </a:prstGeom>
          <a:noFill/>
        </p:spPr>
        <p:txBody>
          <a:bodyPr wrap="square">
            <a:spAutoFit/>
          </a:bodyPr>
          <a:lstStyle/>
          <a:p>
            <a:pPr algn="l"/>
            <a:r>
              <a:rPr sz="1400" b="0" i="1">
                <a:solidFill>
                  <a:srgbClr val="969698"/>
                </a:solidFill>
                <a:latin typeface="Calibri"/>
              </a:rPr>
              <a:t>One potential build plan — AI camera verification for USEFULL return bins</a:t>
            </a:r>
          </a:p>
        </p:txBody>
      </p:sp>
      <p:sp>
        <p:nvSpPr>
          <p:cNvPr id="9" name="TextBox 8"/>
          <p:cNvSpPr txBox="1"/>
          <p:nvPr/>
        </p:nvSpPr>
        <p:spPr>
          <a:xfrm>
            <a:off x="502920" y="4754880"/>
            <a:ext cx="4572000" cy="365760"/>
          </a:xfrm>
          <a:prstGeom prst="rect">
            <a:avLst/>
          </a:prstGeom>
          <a:noFill/>
        </p:spPr>
        <p:txBody>
          <a:bodyPr wrap="square">
            <a:spAutoFit/>
          </a:bodyPr>
          <a:lstStyle/>
          <a:p>
            <a:pPr algn="l"/>
            <a:r>
              <a:rPr sz="1300" b="0" i="0">
                <a:solidFill>
                  <a:srgbClr val="969698"/>
                </a:solidFill>
                <a:latin typeface="Calibri"/>
              </a:rPr>
              <a:t>Owen Barron  ·  March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11535" y="164592"/>
            <a:ext cx="1097280" cy="274320"/>
          </a:xfrm>
          <a:prstGeom prst="rect">
            <a:avLst/>
          </a:prstGeom>
          <a:noFill/>
        </p:spPr>
        <p:txBody>
          <a:bodyPr wrap="square">
            <a:spAutoFit/>
          </a:bodyPr>
          <a:lstStyle/>
          <a:p>
            <a:pPr algn="r"/>
            <a:r>
              <a:rPr sz="900" b="0" i="0">
                <a:solidFill>
                  <a:srgbClr val="969698"/>
                </a:solidFill>
                <a:latin typeface="Calibri"/>
              </a:rPr>
              <a:t>02 / 11</a:t>
            </a:r>
          </a:p>
        </p:txBody>
      </p:sp>
      <p:sp>
        <p:nvSpPr>
          <p:cNvPr id="3" name="TextBox 2"/>
          <p:cNvSpPr txBox="1"/>
          <p:nvPr/>
        </p:nvSpPr>
        <p:spPr>
          <a:xfrm>
            <a:off x="502920" y="1005840"/>
            <a:ext cx="11185855" cy="274320"/>
          </a:xfrm>
          <a:prstGeom prst="rect">
            <a:avLst/>
          </a:prstGeom>
          <a:noFill/>
        </p:spPr>
        <p:txBody>
          <a:bodyPr wrap="square">
            <a:spAutoFit/>
          </a:bodyPr>
          <a:lstStyle/>
          <a:p>
            <a:pPr algn="l"/>
            <a:r>
              <a:rPr sz="1000" b="1" i="0">
                <a:solidFill>
                  <a:srgbClr val="D69A2D"/>
                </a:solidFill>
                <a:latin typeface="Calibri"/>
              </a:rPr>
              <a:t>STARTING POINT</a:t>
            </a:r>
          </a:p>
        </p:txBody>
      </p:sp>
      <p:sp>
        <p:nvSpPr>
          <p:cNvPr id="4" name="TextBox 3"/>
          <p:cNvSpPr txBox="1"/>
          <p:nvPr/>
        </p:nvSpPr>
        <p:spPr>
          <a:xfrm>
            <a:off x="502920" y="1298448"/>
            <a:ext cx="11185855" cy="731520"/>
          </a:xfrm>
          <a:prstGeom prst="rect">
            <a:avLst/>
          </a:prstGeom>
          <a:noFill/>
        </p:spPr>
        <p:txBody>
          <a:bodyPr wrap="square">
            <a:spAutoFit/>
          </a:bodyPr>
          <a:lstStyle/>
          <a:p>
            <a:pPr algn="l"/>
            <a:r>
              <a:rPr sz="3000" b="0" i="0">
                <a:solidFill>
                  <a:srgbClr val="008C95"/>
                </a:solidFill>
                <a:latin typeface="Georgia"/>
              </a:rPr>
              <a:t>The Problem We Were Asked to Solve</a:t>
            </a:r>
          </a:p>
        </p:txBody>
      </p:sp>
      <p:sp>
        <p:nvSpPr>
          <p:cNvPr id="5" name="TextBox 4"/>
          <p:cNvSpPr txBox="1"/>
          <p:nvPr/>
        </p:nvSpPr>
        <p:spPr>
          <a:xfrm>
            <a:off x="502920" y="1965960"/>
            <a:ext cx="11185855" cy="411480"/>
          </a:xfrm>
          <a:prstGeom prst="rect">
            <a:avLst/>
          </a:prstGeom>
          <a:noFill/>
        </p:spPr>
        <p:txBody>
          <a:bodyPr wrap="square">
            <a:spAutoFit/>
          </a:bodyPr>
          <a:lstStyle/>
          <a:p>
            <a:pPr algn="l"/>
            <a:r>
              <a:rPr sz="1400" b="0" i="0">
                <a:solidFill>
                  <a:srgbClr val="4C4C4E"/>
                </a:solidFill>
                <a:latin typeface="Calibri"/>
              </a:rPr>
              <a:t>Alison's ask: can we use an AI camera to verify containers are actually returned after a QR scan?</a:t>
            </a:r>
          </a:p>
        </p:txBody>
      </p:sp>
      <p:sp>
        <p:nvSpPr>
          <p:cNvPr id="6" name="Rectangle 5"/>
          <p:cNvSpPr/>
          <p:nvPr/>
        </p:nvSpPr>
        <p:spPr>
          <a:xfrm>
            <a:off x="502920" y="2514600"/>
            <a:ext cx="2926080" cy="1005840"/>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624328"/>
            <a:ext cx="2651760" cy="822960"/>
          </a:xfrm>
          <a:prstGeom prst="rect">
            <a:avLst/>
          </a:prstGeom>
          <a:noFill/>
        </p:spPr>
        <p:txBody>
          <a:bodyPr wrap="square">
            <a:spAutoFit/>
          </a:bodyPr>
          <a:lstStyle/>
          <a:p>
            <a:pPr algn="l"/>
            <a:r>
              <a:rPr sz="2800" b="0" i="0">
                <a:solidFill>
                  <a:srgbClr val="B4E1E3"/>
                </a:solidFill>
                <a:latin typeface="Georgia"/>
              </a:rPr>
              <a:t>1</a:t>
            </a:r>
          </a:p>
          <a:p>
            <a:pPr algn="l">
              <a:spcBef>
                <a:spcPts val="200"/>
              </a:spcBef>
            </a:pPr>
            <a:r>
              <a:rPr sz="1300" b="0" i="0">
                <a:solidFill>
                  <a:srgbClr val="FFFFFF"/>
                </a:solidFill>
                <a:latin typeface="Calibri"/>
              </a:rPr>
              <a:t>Student scans QR code</a:t>
            </a:r>
          </a:p>
        </p:txBody>
      </p:sp>
      <p:sp>
        <p:nvSpPr>
          <p:cNvPr id="8" name="TextBox 7"/>
          <p:cNvSpPr txBox="1"/>
          <p:nvPr/>
        </p:nvSpPr>
        <p:spPr>
          <a:xfrm>
            <a:off x="3429000" y="2514600"/>
            <a:ext cx="457200" cy="1005840"/>
          </a:xfrm>
          <a:prstGeom prst="rect">
            <a:avLst/>
          </a:prstGeom>
          <a:noFill/>
        </p:spPr>
        <p:txBody>
          <a:bodyPr wrap="square">
            <a:spAutoFit/>
          </a:bodyPr>
          <a:lstStyle/>
          <a:p>
            <a:pPr algn="ctr"/>
            <a:r>
              <a:rPr sz="2200" b="0" i="0">
                <a:solidFill>
                  <a:srgbClr val="008C95"/>
                </a:solidFill>
                <a:latin typeface="Calibri"/>
              </a:rPr>
              <a:t>→</a:t>
            </a:r>
          </a:p>
        </p:txBody>
      </p:sp>
      <p:sp>
        <p:nvSpPr>
          <p:cNvPr id="9" name="Rectangle 8"/>
          <p:cNvSpPr/>
          <p:nvPr/>
        </p:nvSpPr>
        <p:spPr>
          <a:xfrm>
            <a:off x="3886200" y="2514600"/>
            <a:ext cx="2926080" cy="1005840"/>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23360" y="2624328"/>
            <a:ext cx="2651760" cy="822960"/>
          </a:xfrm>
          <a:prstGeom prst="rect">
            <a:avLst/>
          </a:prstGeom>
          <a:noFill/>
        </p:spPr>
        <p:txBody>
          <a:bodyPr wrap="square">
            <a:spAutoFit/>
          </a:bodyPr>
          <a:lstStyle/>
          <a:p>
            <a:pPr algn="l"/>
            <a:r>
              <a:rPr sz="2800" b="0" i="0">
                <a:solidFill>
                  <a:srgbClr val="B4E1E3"/>
                </a:solidFill>
                <a:latin typeface="Georgia"/>
              </a:rPr>
              <a:t>2</a:t>
            </a:r>
          </a:p>
          <a:p>
            <a:pPr algn="l">
              <a:spcBef>
                <a:spcPts val="200"/>
              </a:spcBef>
            </a:pPr>
            <a:r>
              <a:rPr sz="1300" b="0" i="0">
                <a:solidFill>
                  <a:srgbClr val="FFFFFF"/>
                </a:solidFill>
                <a:latin typeface="Calibri"/>
              </a:rPr>
              <a:t>System expects a return</a:t>
            </a:r>
          </a:p>
        </p:txBody>
      </p:sp>
      <p:sp>
        <p:nvSpPr>
          <p:cNvPr id="11" name="TextBox 10"/>
          <p:cNvSpPr txBox="1"/>
          <p:nvPr/>
        </p:nvSpPr>
        <p:spPr>
          <a:xfrm>
            <a:off x="6812280" y="2514600"/>
            <a:ext cx="457200" cy="1005840"/>
          </a:xfrm>
          <a:prstGeom prst="rect">
            <a:avLst/>
          </a:prstGeom>
          <a:noFill/>
        </p:spPr>
        <p:txBody>
          <a:bodyPr wrap="square">
            <a:spAutoFit/>
          </a:bodyPr>
          <a:lstStyle/>
          <a:p>
            <a:pPr algn="ctr"/>
            <a:r>
              <a:rPr sz="2200" b="0" i="0">
                <a:solidFill>
                  <a:srgbClr val="C0392B"/>
                </a:solidFill>
                <a:latin typeface="Calibri"/>
              </a:rPr>
              <a:t>→</a:t>
            </a:r>
          </a:p>
        </p:txBody>
      </p:sp>
      <p:sp>
        <p:nvSpPr>
          <p:cNvPr id="12" name="Rectangle 11"/>
          <p:cNvSpPr/>
          <p:nvPr/>
        </p:nvSpPr>
        <p:spPr>
          <a:xfrm>
            <a:off x="7269480" y="2514600"/>
            <a:ext cx="3474720" cy="1005840"/>
          </a:xfrm>
          <a:prstGeom prst="rect">
            <a:avLst/>
          </a:prstGeom>
          <a:solidFill>
            <a:srgbClr val="FFF0EE"/>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2587752"/>
            <a:ext cx="3200400" cy="868680"/>
          </a:xfrm>
          <a:prstGeom prst="rect">
            <a:avLst/>
          </a:prstGeom>
          <a:noFill/>
        </p:spPr>
        <p:txBody>
          <a:bodyPr wrap="square">
            <a:spAutoFit/>
          </a:bodyPr>
          <a:lstStyle/>
          <a:p>
            <a:pPr algn="l"/>
            <a:r>
              <a:rPr sz="2200" b="0" i="0">
                <a:solidFill>
                  <a:srgbClr val="C0392B"/>
                </a:solidFill>
                <a:latin typeface="Georgia"/>
              </a:rPr>
              <a:t>?  Gap</a:t>
            </a:r>
          </a:p>
          <a:p>
            <a:pPr algn="l">
              <a:spcBef>
                <a:spcPts val="300"/>
              </a:spcBef>
            </a:pPr>
            <a:r>
              <a:rPr sz="1300" b="0" i="0">
                <a:solidFill>
                  <a:srgbClr val="C0392B"/>
                </a:solidFill>
                <a:latin typeface="Calibri"/>
              </a:rPr>
              <a:t>Did a real container actually drop?</a:t>
            </a:r>
          </a:p>
        </p:txBody>
      </p:sp>
      <p:sp>
        <p:nvSpPr>
          <p:cNvPr id="14" name="Rectangle 13"/>
          <p:cNvSpPr/>
          <p:nvPr/>
        </p:nvSpPr>
        <p:spPr>
          <a:xfrm>
            <a:off x="502920" y="3886200"/>
            <a:ext cx="45720" cy="502920"/>
          </a:xfrm>
          <a:prstGeom prst="rect">
            <a:avLst/>
          </a:prstGeom>
          <a:solidFill>
            <a:srgbClr val="D69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886200"/>
            <a:ext cx="11048695" cy="548640"/>
          </a:xfrm>
          <a:prstGeom prst="rect">
            <a:avLst/>
          </a:prstGeom>
          <a:noFill/>
        </p:spPr>
        <p:txBody>
          <a:bodyPr wrap="square">
            <a:spAutoFit/>
          </a:bodyPr>
          <a:lstStyle/>
          <a:p>
            <a:pPr algn="l"/>
            <a:r>
              <a:rPr sz="1300" b="0" i="1">
                <a:solidFill>
                  <a:srgbClr val="969698"/>
                </a:solidFill>
                <a:latin typeface="Calibri"/>
              </a:rPr>
              <a:t>Current vulnerability: a student can scan the QR code, walk away without dropping, or drop trash to trigger a simple sensor — and receive credit.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DECE8"/>
        </a:solidFill>
        <a:effectLst/>
      </p:bgPr>
    </p:bg>
    <p:spTree>
      <p:nvGrpSpPr>
        <p:cNvPr id="1" name=""/>
        <p:cNvGrpSpPr/>
        <p:nvPr/>
      </p:nvGrpSpPr>
      <p:grpSpPr/>
      <p:sp>
        <p:nvSpPr>
          <p:cNvPr id="2" name="TextBox 1"/>
          <p:cNvSpPr txBox="1"/>
          <p:nvPr/>
        </p:nvSpPr>
        <p:spPr>
          <a:xfrm>
            <a:off x="10911535" y="164592"/>
            <a:ext cx="1097280" cy="274320"/>
          </a:xfrm>
          <a:prstGeom prst="rect">
            <a:avLst/>
          </a:prstGeom>
          <a:noFill/>
        </p:spPr>
        <p:txBody>
          <a:bodyPr wrap="square">
            <a:spAutoFit/>
          </a:bodyPr>
          <a:lstStyle/>
          <a:p>
            <a:pPr algn="r"/>
            <a:r>
              <a:rPr sz="900" b="0" i="0">
                <a:solidFill>
                  <a:srgbClr val="969698"/>
                </a:solidFill>
                <a:latin typeface="Calibri"/>
              </a:rPr>
              <a:t>03 / 11</a:t>
            </a:r>
          </a:p>
        </p:txBody>
      </p:sp>
      <p:sp>
        <p:nvSpPr>
          <p:cNvPr id="3" name="TextBox 2"/>
          <p:cNvSpPr txBox="1"/>
          <p:nvPr/>
        </p:nvSpPr>
        <p:spPr>
          <a:xfrm>
            <a:off x="502920" y="1005840"/>
            <a:ext cx="11185855" cy="274320"/>
          </a:xfrm>
          <a:prstGeom prst="rect">
            <a:avLst/>
          </a:prstGeom>
          <a:noFill/>
        </p:spPr>
        <p:txBody>
          <a:bodyPr wrap="square">
            <a:spAutoFit/>
          </a:bodyPr>
          <a:lstStyle/>
          <a:p>
            <a:pPr algn="l"/>
            <a:r>
              <a:rPr sz="1000" b="1" i="0">
                <a:solidFill>
                  <a:srgbClr val="D69A2D"/>
                </a:solidFill>
                <a:latin typeface="Calibri"/>
              </a:rPr>
              <a:t>FIELD EVIDENCE</a:t>
            </a:r>
          </a:p>
        </p:txBody>
      </p:sp>
      <p:sp>
        <p:nvSpPr>
          <p:cNvPr id="4" name="TextBox 3"/>
          <p:cNvSpPr txBox="1"/>
          <p:nvPr/>
        </p:nvSpPr>
        <p:spPr>
          <a:xfrm>
            <a:off x="502920" y="1298448"/>
            <a:ext cx="11185855" cy="731520"/>
          </a:xfrm>
          <a:prstGeom prst="rect">
            <a:avLst/>
          </a:prstGeom>
          <a:noFill/>
        </p:spPr>
        <p:txBody>
          <a:bodyPr wrap="square">
            <a:spAutoFit/>
          </a:bodyPr>
          <a:lstStyle/>
          <a:p>
            <a:pPr algn="l"/>
            <a:r>
              <a:rPr sz="3000" b="0" i="0">
                <a:solidFill>
                  <a:srgbClr val="008C95"/>
                </a:solidFill>
                <a:latin typeface="Georgia"/>
              </a:rPr>
              <a:t>But Is This the Right Problem?</a:t>
            </a:r>
          </a:p>
        </p:txBody>
      </p:sp>
      <p:sp>
        <p:nvSpPr>
          <p:cNvPr id="5" name="Rectangle 4"/>
          <p:cNvSpPr/>
          <p:nvPr/>
        </p:nvSpPr>
        <p:spPr>
          <a:xfrm>
            <a:off x="502920" y="1965960"/>
            <a:ext cx="5455767" cy="4114800"/>
          </a:xfrm>
          <a:prstGeom prst="rect">
            <a:avLst/>
          </a:prstGeom>
          <a:solidFill>
            <a:srgbClr val="DCF2F0"/>
          </a:solidFill>
          <a:ln w="12700">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103120"/>
            <a:ext cx="5090007" cy="320040"/>
          </a:xfrm>
          <a:prstGeom prst="rect">
            <a:avLst/>
          </a:prstGeom>
          <a:noFill/>
        </p:spPr>
        <p:txBody>
          <a:bodyPr wrap="square">
            <a:spAutoFit/>
          </a:bodyPr>
          <a:lstStyle/>
          <a:p>
            <a:pPr algn="l"/>
            <a:r>
              <a:rPr sz="900" b="1" i="0">
                <a:solidFill>
                  <a:srgbClr val="008C95"/>
                </a:solidFill>
                <a:latin typeface="Calibri"/>
              </a:rPr>
              <a:t>WHAT CAMERA VERIFICATION SOLVES</a:t>
            </a:r>
          </a:p>
        </p:txBody>
      </p:sp>
      <p:sp>
        <p:nvSpPr>
          <p:cNvPr id="7" name="Rectangle 6"/>
          <p:cNvSpPr/>
          <p:nvPr/>
        </p:nvSpPr>
        <p:spPr>
          <a:xfrm>
            <a:off x="685800" y="2578608"/>
            <a:ext cx="64008" cy="64008"/>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468880"/>
            <a:ext cx="4907127" cy="320040"/>
          </a:xfrm>
          <a:prstGeom prst="rect">
            <a:avLst/>
          </a:prstGeom>
          <a:noFill/>
        </p:spPr>
        <p:txBody>
          <a:bodyPr wrap="square">
            <a:spAutoFit/>
          </a:bodyPr>
          <a:lstStyle/>
          <a:p>
            <a:pPr algn="l"/>
            <a:r>
              <a:rPr sz="1300" b="0" i="0">
                <a:solidFill>
                  <a:srgbClr val="4C4C4E"/>
                </a:solidFill>
                <a:latin typeface="Calibri"/>
              </a:rPr>
              <a:t>Scan-and-walk-away (QR scanned, nothing dropped)</a:t>
            </a:r>
          </a:p>
        </p:txBody>
      </p:sp>
      <p:sp>
        <p:nvSpPr>
          <p:cNvPr id="9" name="Rectangle 8"/>
          <p:cNvSpPr/>
          <p:nvPr/>
        </p:nvSpPr>
        <p:spPr>
          <a:xfrm>
            <a:off x="685800" y="2898648"/>
            <a:ext cx="64008" cy="64008"/>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788920"/>
            <a:ext cx="4907127" cy="320040"/>
          </a:xfrm>
          <a:prstGeom prst="rect">
            <a:avLst/>
          </a:prstGeom>
          <a:noFill/>
        </p:spPr>
        <p:txBody>
          <a:bodyPr wrap="square">
            <a:spAutoFit/>
          </a:bodyPr>
          <a:lstStyle/>
          <a:p>
            <a:pPr algn="l"/>
            <a:r>
              <a:rPr sz="1300" b="0" i="0">
                <a:solidFill>
                  <a:srgbClr val="4C4C4E"/>
                </a:solidFill>
                <a:latin typeface="Calibri"/>
              </a:rPr>
              <a:t>Fake drops (trash triggered instead of container)</a:t>
            </a:r>
          </a:p>
        </p:txBody>
      </p:sp>
      <p:sp>
        <p:nvSpPr>
          <p:cNvPr id="11" name="Rectangle 10"/>
          <p:cNvSpPr/>
          <p:nvPr/>
        </p:nvSpPr>
        <p:spPr>
          <a:xfrm>
            <a:off x="685800" y="3218688"/>
            <a:ext cx="64008" cy="64008"/>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108960"/>
            <a:ext cx="4907127" cy="320040"/>
          </a:xfrm>
          <a:prstGeom prst="rect">
            <a:avLst/>
          </a:prstGeom>
          <a:noFill/>
        </p:spPr>
        <p:txBody>
          <a:bodyPr wrap="square">
            <a:spAutoFit/>
          </a:bodyPr>
          <a:lstStyle/>
          <a:p>
            <a:pPr algn="l"/>
            <a:r>
              <a:rPr sz="1300" b="0" i="0">
                <a:solidFill>
                  <a:srgbClr val="4C4C4E"/>
                </a:solidFill>
                <a:latin typeface="Calibri"/>
              </a:rPr>
              <a:t>Verifiable return event in the system of record</a:t>
            </a:r>
          </a:p>
        </p:txBody>
      </p:sp>
      <p:sp>
        <p:nvSpPr>
          <p:cNvPr id="13" name="Rectangle 12"/>
          <p:cNvSpPr/>
          <p:nvPr/>
        </p:nvSpPr>
        <p:spPr>
          <a:xfrm>
            <a:off x="6233007" y="1965960"/>
            <a:ext cx="5455767" cy="4114800"/>
          </a:xfrm>
          <a:prstGeom prst="rect">
            <a:avLst/>
          </a:prstGeom>
          <a:solidFill>
            <a:srgbClr val="FDF6E1"/>
          </a:solidFill>
          <a:ln w="12700">
            <a:solidFill>
              <a:srgbClr val="D69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5887" y="2103120"/>
            <a:ext cx="5090007" cy="320040"/>
          </a:xfrm>
          <a:prstGeom prst="rect">
            <a:avLst/>
          </a:prstGeom>
          <a:noFill/>
        </p:spPr>
        <p:txBody>
          <a:bodyPr wrap="square">
            <a:spAutoFit/>
          </a:bodyPr>
          <a:lstStyle/>
          <a:p>
            <a:pPr algn="l"/>
            <a:r>
              <a:rPr sz="900" b="1" i="0">
                <a:solidFill>
                  <a:srgbClr val="D69A2D"/>
                </a:solidFill>
                <a:latin typeface="Calibri"/>
              </a:rPr>
              <a:t>WHAT IT DOESN'T SOLVE</a:t>
            </a:r>
          </a:p>
        </p:txBody>
      </p:sp>
      <p:sp>
        <p:nvSpPr>
          <p:cNvPr id="15" name="Rectangle 14"/>
          <p:cNvSpPr/>
          <p:nvPr/>
        </p:nvSpPr>
        <p:spPr>
          <a:xfrm>
            <a:off x="6415887" y="2578608"/>
            <a:ext cx="64008" cy="64008"/>
          </a:xfrm>
          <a:prstGeom prst="rect">
            <a:avLst/>
          </a:prstGeom>
          <a:solidFill>
            <a:srgbClr val="D69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98767" y="2468880"/>
            <a:ext cx="4907127" cy="320040"/>
          </a:xfrm>
          <a:prstGeom prst="rect">
            <a:avLst/>
          </a:prstGeom>
          <a:noFill/>
        </p:spPr>
        <p:txBody>
          <a:bodyPr wrap="square">
            <a:spAutoFit/>
          </a:bodyPr>
          <a:lstStyle/>
          <a:p>
            <a:pPr algn="l"/>
            <a:r>
              <a:rPr sz="1300" b="0" i="0">
                <a:solidFill>
                  <a:srgbClr val="4C4C4E"/>
                </a:solidFill>
                <a:latin typeface="Calibri"/>
              </a:rPr>
              <a:t>Containers never brought back at all (NAU's reported problem)</a:t>
            </a:r>
          </a:p>
        </p:txBody>
      </p:sp>
      <p:sp>
        <p:nvSpPr>
          <p:cNvPr id="17" name="Rectangle 16"/>
          <p:cNvSpPr/>
          <p:nvPr/>
        </p:nvSpPr>
        <p:spPr>
          <a:xfrm>
            <a:off x="6415887" y="2898648"/>
            <a:ext cx="64008" cy="64008"/>
          </a:xfrm>
          <a:prstGeom prst="rect">
            <a:avLst/>
          </a:prstGeom>
          <a:solidFill>
            <a:srgbClr val="D69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98767" y="2788920"/>
            <a:ext cx="4907127" cy="320040"/>
          </a:xfrm>
          <a:prstGeom prst="rect">
            <a:avLst/>
          </a:prstGeom>
          <a:noFill/>
        </p:spPr>
        <p:txBody>
          <a:bodyPr wrap="square">
            <a:spAutoFit/>
          </a:bodyPr>
          <a:lstStyle/>
          <a:p>
            <a:pPr algn="l"/>
            <a:r>
              <a:rPr sz="1300" b="0" i="0">
                <a:solidFill>
                  <a:srgbClr val="4C4C4E"/>
                </a:solidFill>
                <a:latin typeface="Calibri"/>
              </a:rPr>
              <a:t>Student-employee collusion to skip checkout entirely</a:t>
            </a:r>
          </a:p>
        </p:txBody>
      </p:sp>
      <p:sp>
        <p:nvSpPr>
          <p:cNvPr id="19" name="Rectangle 18"/>
          <p:cNvSpPr/>
          <p:nvPr/>
        </p:nvSpPr>
        <p:spPr>
          <a:xfrm>
            <a:off x="6415887" y="3218688"/>
            <a:ext cx="64008" cy="64008"/>
          </a:xfrm>
          <a:prstGeom prst="rect">
            <a:avLst/>
          </a:prstGeom>
          <a:solidFill>
            <a:srgbClr val="D69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98767" y="3108960"/>
            <a:ext cx="4907127" cy="320040"/>
          </a:xfrm>
          <a:prstGeom prst="rect">
            <a:avLst/>
          </a:prstGeom>
          <a:noFill/>
        </p:spPr>
        <p:txBody>
          <a:bodyPr wrap="square">
            <a:spAutoFit/>
          </a:bodyPr>
          <a:lstStyle/>
          <a:p>
            <a:pPr algn="l"/>
            <a:r>
              <a:rPr sz="1300" b="0" i="0">
                <a:solidFill>
                  <a:srgbClr val="4C4C4E"/>
                </a:solidFill>
                <a:latin typeface="Calibri"/>
              </a:rPr>
              <a:t>Student protest and non-participation (UMass Lowell)</a:t>
            </a:r>
          </a:p>
        </p:txBody>
      </p:sp>
      <p:sp>
        <p:nvSpPr>
          <p:cNvPr id="21" name="Rectangle 20"/>
          <p:cNvSpPr/>
          <p:nvPr/>
        </p:nvSpPr>
        <p:spPr>
          <a:xfrm>
            <a:off x="6415887" y="3538728"/>
            <a:ext cx="64008" cy="64008"/>
          </a:xfrm>
          <a:prstGeom prst="rect">
            <a:avLst/>
          </a:prstGeom>
          <a:solidFill>
            <a:srgbClr val="D69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98767" y="3429000"/>
            <a:ext cx="4907127" cy="320040"/>
          </a:xfrm>
          <a:prstGeom prst="rect">
            <a:avLst/>
          </a:prstGeom>
          <a:noFill/>
        </p:spPr>
        <p:txBody>
          <a:bodyPr wrap="square">
            <a:spAutoFit/>
          </a:bodyPr>
          <a:lstStyle/>
          <a:p>
            <a:pPr algn="l"/>
            <a:r>
              <a:rPr sz="1300" b="0" i="0">
                <a:solidFill>
                  <a:srgbClr val="4C4C4E"/>
                </a:solidFill>
                <a:latin typeface="Calibri"/>
              </a:rPr>
              <a:t>Loss at other points in the container lifecycle</a:t>
            </a:r>
          </a:p>
        </p:txBody>
      </p:sp>
      <p:sp>
        <p:nvSpPr>
          <p:cNvPr id="23" name="Rectangle 22"/>
          <p:cNvSpPr/>
          <p:nvPr/>
        </p:nvSpPr>
        <p:spPr>
          <a:xfrm>
            <a:off x="502920" y="6263640"/>
            <a:ext cx="45720" cy="457200"/>
          </a:xfrm>
          <a:prstGeom prst="rect">
            <a:avLst/>
          </a:prstGeom>
          <a:solidFill>
            <a:srgbClr val="D69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263640"/>
            <a:ext cx="11185855" cy="457200"/>
          </a:xfrm>
          <a:prstGeom prst="rect">
            <a:avLst/>
          </a:prstGeom>
          <a:noFill/>
        </p:spPr>
        <p:txBody>
          <a:bodyPr wrap="square">
            <a:spAutoFit/>
          </a:bodyPr>
          <a:lstStyle/>
          <a:p>
            <a:pPr algn="l"/>
            <a:r>
              <a:rPr sz="1300" b="0" i="1">
                <a:solidFill>
                  <a:srgbClr val="4C4C4E"/>
                </a:solidFill>
                <a:latin typeface="Calibri"/>
              </a:rPr>
              <a:t>A camera system solves a specific failure mode. Before investing, we should confirm this failure mode is actually driving losses.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11535" y="164592"/>
            <a:ext cx="1097280" cy="274320"/>
          </a:xfrm>
          <a:prstGeom prst="rect">
            <a:avLst/>
          </a:prstGeom>
          <a:noFill/>
        </p:spPr>
        <p:txBody>
          <a:bodyPr wrap="square">
            <a:spAutoFit/>
          </a:bodyPr>
          <a:lstStyle/>
          <a:p>
            <a:pPr algn="r"/>
            <a:r>
              <a:rPr sz="900" b="0" i="0">
                <a:solidFill>
                  <a:srgbClr val="969698"/>
                </a:solidFill>
                <a:latin typeface="Calibri"/>
              </a:rPr>
              <a:t>04 / 11</a:t>
            </a:r>
          </a:p>
        </p:txBody>
      </p:sp>
      <p:sp>
        <p:nvSpPr>
          <p:cNvPr id="3" name="TextBox 2"/>
          <p:cNvSpPr txBox="1"/>
          <p:nvPr/>
        </p:nvSpPr>
        <p:spPr>
          <a:xfrm>
            <a:off x="502920" y="1005840"/>
            <a:ext cx="11185855" cy="274320"/>
          </a:xfrm>
          <a:prstGeom prst="rect">
            <a:avLst/>
          </a:prstGeom>
          <a:noFill/>
        </p:spPr>
        <p:txBody>
          <a:bodyPr wrap="square">
            <a:spAutoFit/>
          </a:bodyPr>
          <a:lstStyle/>
          <a:p>
            <a:pPr algn="l"/>
            <a:r>
              <a:rPr sz="1000" b="1" i="0">
                <a:solidFill>
                  <a:srgbClr val="D69A2D"/>
                </a:solidFill>
                <a:latin typeface="Calibri"/>
              </a:rPr>
              <a:t>EXPERT GUIDANCE</a:t>
            </a:r>
          </a:p>
        </p:txBody>
      </p:sp>
      <p:sp>
        <p:nvSpPr>
          <p:cNvPr id="4" name="TextBox 3"/>
          <p:cNvSpPr txBox="1"/>
          <p:nvPr/>
        </p:nvSpPr>
        <p:spPr>
          <a:xfrm>
            <a:off x="502920" y="1298448"/>
            <a:ext cx="11185855" cy="731520"/>
          </a:xfrm>
          <a:prstGeom prst="rect">
            <a:avLst/>
          </a:prstGeom>
          <a:noFill/>
        </p:spPr>
        <p:txBody>
          <a:bodyPr wrap="square">
            <a:spAutoFit/>
          </a:bodyPr>
          <a:lstStyle/>
          <a:p>
            <a:pPr algn="l"/>
            <a:r>
              <a:rPr sz="3000" b="0" i="0">
                <a:solidFill>
                  <a:srgbClr val="008C95"/>
                </a:solidFill>
                <a:latin typeface="Georgia"/>
              </a:rPr>
              <a:t>What Joshua Told Us</a:t>
            </a:r>
          </a:p>
        </p:txBody>
      </p:sp>
      <p:sp>
        <p:nvSpPr>
          <p:cNvPr id="5" name="TextBox 4"/>
          <p:cNvSpPr txBox="1"/>
          <p:nvPr/>
        </p:nvSpPr>
        <p:spPr>
          <a:xfrm>
            <a:off x="502920" y="1920240"/>
            <a:ext cx="11185855" cy="411480"/>
          </a:xfrm>
          <a:prstGeom prst="rect">
            <a:avLst/>
          </a:prstGeom>
          <a:noFill/>
        </p:spPr>
        <p:txBody>
          <a:bodyPr wrap="square">
            <a:spAutoFit/>
          </a:bodyPr>
          <a:lstStyle/>
          <a:p>
            <a:pPr algn="l"/>
            <a:r>
              <a:rPr sz="1200" b="0" i="1">
                <a:solidFill>
                  <a:srgbClr val="969698"/>
                </a:solidFill>
                <a:latin typeface="Calibri"/>
              </a:rPr>
              <a:t>Joshua is CEO of Amherst Intelligence Security, referred by Igor. After advising on the concept, he offered to work with us directly in his personal capacity — he's genuinely excited by the problem.</a:t>
            </a:r>
          </a:p>
        </p:txBody>
      </p:sp>
      <p:sp>
        <p:nvSpPr>
          <p:cNvPr id="6" name="Rectangle 5"/>
          <p:cNvSpPr/>
          <p:nvPr/>
        </p:nvSpPr>
        <p:spPr>
          <a:xfrm>
            <a:off x="502920" y="2468880"/>
            <a:ext cx="5455767" cy="1737360"/>
          </a:xfrm>
          <a:prstGeom prst="rect">
            <a:avLst/>
          </a:prstGeom>
          <a:solidFill>
            <a:srgbClr val="F7FCFC"/>
          </a:solidFill>
          <a:ln w="12700">
            <a:solidFill>
              <a:srgbClr val="C8E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468880"/>
            <a:ext cx="5455767" cy="54864"/>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560320"/>
            <a:ext cx="457200" cy="457200"/>
          </a:xfrm>
          <a:prstGeom prst="rect">
            <a:avLst/>
          </a:prstGeom>
          <a:noFill/>
        </p:spPr>
        <p:txBody>
          <a:bodyPr wrap="square">
            <a:spAutoFit/>
          </a:bodyPr>
          <a:lstStyle/>
          <a:p>
            <a:pPr algn="l"/>
            <a:r>
              <a:rPr sz="2400" b="0" i="0">
                <a:solidFill>
                  <a:srgbClr val="B4E1E3"/>
                </a:solidFill>
                <a:latin typeface="Georgia"/>
              </a:rPr>
              <a:t>01</a:t>
            </a:r>
          </a:p>
        </p:txBody>
      </p:sp>
      <p:sp>
        <p:nvSpPr>
          <p:cNvPr id="9" name="TextBox 8"/>
          <p:cNvSpPr txBox="1"/>
          <p:nvPr/>
        </p:nvSpPr>
        <p:spPr>
          <a:xfrm>
            <a:off x="640080" y="2971800"/>
            <a:ext cx="5181447" cy="365760"/>
          </a:xfrm>
          <a:prstGeom prst="rect">
            <a:avLst/>
          </a:prstGeom>
          <a:noFill/>
        </p:spPr>
        <p:txBody>
          <a:bodyPr wrap="square">
            <a:spAutoFit/>
          </a:bodyPr>
          <a:lstStyle/>
          <a:p>
            <a:pPr algn="l"/>
            <a:r>
              <a:rPr sz="1300" b="1" i="0">
                <a:solidFill>
                  <a:srgbClr val="4C4C4E"/>
                </a:solidFill>
                <a:latin typeface="Calibri"/>
              </a:rPr>
              <a:t>Don't point into the bin</a:t>
            </a:r>
          </a:p>
        </p:txBody>
      </p:sp>
      <p:sp>
        <p:nvSpPr>
          <p:cNvPr id="10" name="TextBox 9"/>
          <p:cNvSpPr txBox="1"/>
          <p:nvPr/>
        </p:nvSpPr>
        <p:spPr>
          <a:xfrm>
            <a:off x="640080" y="3337560"/>
            <a:ext cx="5181447" cy="822960"/>
          </a:xfrm>
          <a:prstGeom prst="rect">
            <a:avLst/>
          </a:prstGeom>
          <a:noFill/>
        </p:spPr>
        <p:txBody>
          <a:bodyPr wrap="square">
            <a:spAutoFit/>
          </a:bodyPr>
          <a:lstStyle/>
          <a:p>
            <a:pPr algn="l"/>
            <a:r>
              <a:rPr sz="1200" b="0" i="0">
                <a:solidFill>
                  <a:srgbClr val="969698"/>
                </a:solidFill>
                <a:latin typeface="Calibri"/>
              </a:rPr>
              <a:t>A messy pile of wet containers is a dead end. Focus on the throat — where the scene can be controlled.</a:t>
            </a:r>
          </a:p>
        </p:txBody>
      </p:sp>
      <p:sp>
        <p:nvSpPr>
          <p:cNvPr id="11" name="Rectangle 10"/>
          <p:cNvSpPr/>
          <p:nvPr/>
        </p:nvSpPr>
        <p:spPr>
          <a:xfrm>
            <a:off x="6095847" y="2468880"/>
            <a:ext cx="5455767" cy="1737360"/>
          </a:xfrm>
          <a:prstGeom prst="rect">
            <a:avLst/>
          </a:prstGeom>
          <a:solidFill>
            <a:srgbClr val="F7FCFC"/>
          </a:solidFill>
          <a:ln w="12700">
            <a:solidFill>
              <a:srgbClr val="C8E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95847" y="2468880"/>
            <a:ext cx="5455767" cy="54864"/>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33007" y="2560320"/>
            <a:ext cx="457200" cy="457200"/>
          </a:xfrm>
          <a:prstGeom prst="rect">
            <a:avLst/>
          </a:prstGeom>
          <a:noFill/>
        </p:spPr>
        <p:txBody>
          <a:bodyPr wrap="square">
            <a:spAutoFit/>
          </a:bodyPr>
          <a:lstStyle/>
          <a:p>
            <a:pPr algn="l"/>
            <a:r>
              <a:rPr sz="2400" b="0" i="0">
                <a:solidFill>
                  <a:srgbClr val="B4E1E3"/>
                </a:solidFill>
                <a:latin typeface="Georgia"/>
              </a:rPr>
              <a:t>02</a:t>
            </a:r>
          </a:p>
        </p:txBody>
      </p:sp>
      <p:sp>
        <p:nvSpPr>
          <p:cNvPr id="14" name="TextBox 13"/>
          <p:cNvSpPr txBox="1"/>
          <p:nvPr/>
        </p:nvSpPr>
        <p:spPr>
          <a:xfrm>
            <a:off x="6233007" y="2971800"/>
            <a:ext cx="5181447" cy="365760"/>
          </a:xfrm>
          <a:prstGeom prst="rect">
            <a:avLst/>
          </a:prstGeom>
          <a:noFill/>
        </p:spPr>
        <p:txBody>
          <a:bodyPr wrap="square">
            <a:spAutoFit/>
          </a:bodyPr>
          <a:lstStyle/>
          <a:p>
            <a:pPr algn="l"/>
            <a:r>
              <a:rPr sz="1300" b="1" i="0">
                <a:solidFill>
                  <a:srgbClr val="4C4C4E"/>
                </a:solidFill>
                <a:latin typeface="Calibri"/>
              </a:rPr>
              <a:t>More cameras beats better cameras</a:t>
            </a:r>
          </a:p>
        </p:txBody>
      </p:sp>
      <p:sp>
        <p:nvSpPr>
          <p:cNvPr id="15" name="TextBox 14"/>
          <p:cNvSpPr txBox="1"/>
          <p:nvPr/>
        </p:nvSpPr>
        <p:spPr>
          <a:xfrm>
            <a:off x="6233007" y="3337560"/>
            <a:ext cx="5181447" cy="822960"/>
          </a:xfrm>
          <a:prstGeom prst="rect">
            <a:avLst/>
          </a:prstGeom>
          <a:noFill/>
        </p:spPr>
        <p:txBody>
          <a:bodyPr wrap="square">
            <a:spAutoFit/>
          </a:bodyPr>
          <a:lstStyle/>
          <a:p>
            <a:pPr algn="l"/>
            <a:r>
              <a:rPr sz="1200" b="0" i="0">
                <a:solidFill>
                  <a:srgbClr val="969698"/>
                </a:solidFill>
                <a:latin typeface="Calibri"/>
              </a:rPr>
              <a:t>Multiple inexpensive cameras from more angles outperforms a single high-end unit.</a:t>
            </a:r>
          </a:p>
        </p:txBody>
      </p:sp>
      <p:sp>
        <p:nvSpPr>
          <p:cNvPr id="16" name="Rectangle 15"/>
          <p:cNvSpPr/>
          <p:nvPr/>
        </p:nvSpPr>
        <p:spPr>
          <a:xfrm>
            <a:off x="502920" y="4343400"/>
            <a:ext cx="5455767" cy="1737360"/>
          </a:xfrm>
          <a:prstGeom prst="rect">
            <a:avLst/>
          </a:prstGeom>
          <a:solidFill>
            <a:srgbClr val="F7FCFC"/>
          </a:solidFill>
          <a:ln w="12700">
            <a:solidFill>
              <a:srgbClr val="C8E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4343400"/>
            <a:ext cx="5455767" cy="54864"/>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434840"/>
            <a:ext cx="457200" cy="457200"/>
          </a:xfrm>
          <a:prstGeom prst="rect">
            <a:avLst/>
          </a:prstGeom>
          <a:noFill/>
        </p:spPr>
        <p:txBody>
          <a:bodyPr wrap="square">
            <a:spAutoFit/>
          </a:bodyPr>
          <a:lstStyle/>
          <a:p>
            <a:pPr algn="l"/>
            <a:r>
              <a:rPr sz="2400" b="0" i="0">
                <a:solidFill>
                  <a:srgbClr val="B4E1E3"/>
                </a:solidFill>
                <a:latin typeface="Georgia"/>
              </a:rPr>
              <a:t>03</a:t>
            </a:r>
          </a:p>
        </p:txBody>
      </p:sp>
      <p:sp>
        <p:nvSpPr>
          <p:cNvPr id="19" name="TextBox 18"/>
          <p:cNvSpPr txBox="1"/>
          <p:nvPr/>
        </p:nvSpPr>
        <p:spPr>
          <a:xfrm>
            <a:off x="640080" y="4846320"/>
            <a:ext cx="5181447" cy="365760"/>
          </a:xfrm>
          <a:prstGeom prst="rect">
            <a:avLst/>
          </a:prstGeom>
          <a:noFill/>
        </p:spPr>
        <p:txBody>
          <a:bodyPr wrap="square">
            <a:spAutoFit/>
          </a:bodyPr>
          <a:lstStyle/>
          <a:p>
            <a:pPr algn="l"/>
            <a:r>
              <a:rPr sz="1300" b="1" i="0">
                <a:solidFill>
                  <a:srgbClr val="4C4C4E"/>
                </a:solidFill>
                <a:latin typeface="Calibri"/>
              </a:rPr>
              <a:t>You need a lot of data</a:t>
            </a:r>
          </a:p>
        </p:txBody>
      </p:sp>
      <p:sp>
        <p:nvSpPr>
          <p:cNvPr id="20" name="TextBox 19"/>
          <p:cNvSpPr txBox="1"/>
          <p:nvPr/>
        </p:nvSpPr>
        <p:spPr>
          <a:xfrm>
            <a:off x="640080" y="5212080"/>
            <a:ext cx="5181447" cy="822960"/>
          </a:xfrm>
          <a:prstGeom prst="rect">
            <a:avLst/>
          </a:prstGeom>
          <a:noFill/>
        </p:spPr>
        <p:txBody>
          <a:bodyPr wrap="square">
            <a:spAutoFit/>
          </a:bodyPr>
          <a:lstStyle/>
          <a:p>
            <a:pPr algn="l"/>
            <a:r>
              <a:rPr sz="1200" b="0" i="0">
                <a:solidFill>
                  <a:srgbClr val="969698"/>
                </a:solidFill>
                <a:latin typeface="Calibri"/>
              </a:rPr>
              <a:t>This is a scaling problem. The model needs thousands of real return events before it's useful.</a:t>
            </a:r>
          </a:p>
        </p:txBody>
      </p:sp>
      <p:sp>
        <p:nvSpPr>
          <p:cNvPr id="21" name="Rectangle 20"/>
          <p:cNvSpPr/>
          <p:nvPr/>
        </p:nvSpPr>
        <p:spPr>
          <a:xfrm>
            <a:off x="6095847" y="4343400"/>
            <a:ext cx="5455767" cy="1737360"/>
          </a:xfrm>
          <a:prstGeom prst="rect">
            <a:avLst/>
          </a:prstGeom>
          <a:solidFill>
            <a:srgbClr val="F7FCFC"/>
          </a:solidFill>
          <a:ln w="12700">
            <a:solidFill>
              <a:srgbClr val="C8E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95847" y="4343400"/>
            <a:ext cx="5455767" cy="54864"/>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33007" y="4434840"/>
            <a:ext cx="457200" cy="457200"/>
          </a:xfrm>
          <a:prstGeom prst="rect">
            <a:avLst/>
          </a:prstGeom>
          <a:noFill/>
        </p:spPr>
        <p:txBody>
          <a:bodyPr wrap="square">
            <a:spAutoFit/>
          </a:bodyPr>
          <a:lstStyle/>
          <a:p>
            <a:pPr algn="l"/>
            <a:r>
              <a:rPr sz="2400" b="0" i="0">
                <a:solidFill>
                  <a:srgbClr val="B4E1E3"/>
                </a:solidFill>
                <a:latin typeface="Georgia"/>
              </a:rPr>
              <a:t>04</a:t>
            </a:r>
          </a:p>
        </p:txBody>
      </p:sp>
      <p:sp>
        <p:nvSpPr>
          <p:cNvPr id="24" name="TextBox 23"/>
          <p:cNvSpPr txBox="1"/>
          <p:nvPr/>
        </p:nvSpPr>
        <p:spPr>
          <a:xfrm>
            <a:off x="6233007" y="4846320"/>
            <a:ext cx="5181447" cy="365760"/>
          </a:xfrm>
          <a:prstGeom prst="rect">
            <a:avLst/>
          </a:prstGeom>
          <a:noFill/>
        </p:spPr>
        <p:txBody>
          <a:bodyPr wrap="square">
            <a:spAutoFit/>
          </a:bodyPr>
          <a:lstStyle/>
          <a:p>
            <a:pPr algn="l"/>
            <a:r>
              <a:rPr sz="1300" b="1" i="0">
                <a:solidFill>
                  <a:srgbClr val="4C4C4E"/>
                </a:solidFill>
                <a:latin typeface="Calibri"/>
              </a:rPr>
              <a:t>Expect a long iteration cycle</a:t>
            </a:r>
          </a:p>
        </p:txBody>
      </p:sp>
      <p:sp>
        <p:nvSpPr>
          <p:cNvPr id="25" name="TextBox 24"/>
          <p:cNvSpPr txBox="1"/>
          <p:nvPr/>
        </p:nvSpPr>
        <p:spPr>
          <a:xfrm>
            <a:off x="6233007" y="5212080"/>
            <a:ext cx="5181447" cy="822960"/>
          </a:xfrm>
          <a:prstGeom prst="rect">
            <a:avLst/>
          </a:prstGeom>
          <a:noFill/>
        </p:spPr>
        <p:txBody>
          <a:bodyPr wrap="square">
            <a:spAutoFit/>
          </a:bodyPr>
          <a:lstStyle/>
          <a:p>
            <a:pPr algn="l"/>
            <a:r>
              <a:rPr sz="1200" b="0" i="0">
                <a:solidFill>
                  <a:srgbClr val="969698"/>
                </a:solidFill>
                <a:latin typeface="Calibri"/>
              </a:rPr>
              <a:t>Getting something that works even a little in a real food-court environment takes significant time.</a:t>
            </a:r>
          </a:p>
        </p:txBody>
      </p:sp>
      <p:sp>
        <p:nvSpPr>
          <p:cNvPr id="26" name="Rectangle 25"/>
          <p:cNvSpPr/>
          <p:nvPr/>
        </p:nvSpPr>
        <p:spPr>
          <a:xfrm>
            <a:off x="502920" y="6309360"/>
            <a:ext cx="45720" cy="320040"/>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6309360"/>
            <a:ext cx="11185855" cy="320040"/>
          </a:xfrm>
          <a:prstGeom prst="rect">
            <a:avLst/>
          </a:prstGeom>
          <a:noFill/>
        </p:spPr>
        <p:txBody>
          <a:bodyPr wrap="square">
            <a:spAutoFit/>
          </a:bodyPr>
          <a:lstStyle/>
          <a:p>
            <a:pPr algn="l"/>
            <a:r>
              <a:rPr sz="1200" b="1" i="0">
                <a:solidFill>
                  <a:srgbClr val="006B72"/>
                </a:solidFill>
                <a:latin typeface="Calibri"/>
              </a:rPr>
              <a:t>Design principle: Watch the passage, not the pile. The throat concept on the next slide was built on this advice.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DDF0EE"/>
        </a:solidFill>
        <a:effectLst/>
      </p:bgPr>
    </p:bg>
    <p:spTree>
      <p:nvGrpSpPr>
        <p:cNvPr id="1" name=""/>
        <p:cNvGrpSpPr/>
        <p:nvPr/>
      </p:nvGrpSpPr>
      <p:grpSpPr/>
      <p:sp>
        <p:nvSpPr>
          <p:cNvPr id="2" name="TextBox 1"/>
          <p:cNvSpPr txBox="1"/>
          <p:nvPr/>
        </p:nvSpPr>
        <p:spPr>
          <a:xfrm>
            <a:off x="10911535" y="164592"/>
            <a:ext cx="1097280" cy="274320"/>
          </a:xfrm>
          <a:prstGeom prst="rect">
            <a:avLst/>
          </a:prstGeom>
          <a:noFill/>
        </p:spPr>
        <p:txBody>
          <a:bodyPr wrap="square">
            <a:spAutoFit/>
          </a:bodyPr>
          <a:lstStyle/>
          <a:p>
            <a:pPr algn="r"/>
            <a:r>
              <a:rPr sz="900" b="0" i="0">
                <a:solidFill>
                  <a:srgbClr val="969698"/>
                </a:solidFill>
                <a:latin typeface="Calibri"/>
              </a:rPr>
              <a:t>05 / 11</a:t>
            </a:r>
          </a:p>
        </p:txBody>
      </p:sp>
      <p:sp>
        <p:nvSpPr>
          <p:cNvPr id="3" name="TextBox 2"/>
          <p:cNvSpPr txBox="1"/>
          <p:nvPr/>
        </p:nvSpPr>
        <p:spPr>
          <a:xfrm>
            <a:off x="502920" y="1005840"/>
            <a:ext cx="11185855" cy="274320"/>
          </a:xfrm>
          <a:prstGeom prst="rect">
            <a:avLst/>
          </a:prstGeom>
          <a:noFill/>
        </p:spPr>
        <p:txBody>
          <a:bodyPr wrap="square">
            <a:spAutoFit/>
          </a:bodyPr>
          <a:lstStyle/>
          <a:p>
            <a:pPr algn="l"/>
            <a:r>
              <a:rPr sz="1000" b="1" i="0">
                <a:solidFill>
                  <a:srgbClr val="D69A2D"/>
                </a:solidFill>
                <a:latin typeface="Calibri"/>
              </a:rPr>
              <a:t>SENSING ARCHITECTURE — DEVELOPED WITH JOSHUA</a:t>
            </a:r>
          </a:p>
        </p:txBody>
      </p:sp>
      <p:sp>
        <p:nvSpPr>
          <p:cNvPr id="4" name="TextBox 3"/>
          <p:cNvSpPr txBox="1"/>
          <p:nvPr/>
        </p:nvSpPr>
        <p:spPr>
          <a:xfrm>
            <a:off x="502920" y="1298448"/>
            <a:ext cx="11185855" cy="731520"/>
          </a:xfrm>
          <a:prstGeom prst="rect">
            <a:avLst/>
          </a:prstGeom>
          <a:noFill/>
        </p:spPr>
        <p:txBody>
          <a:bodyPr wrap="square">
            <a:spAutoFit/>
          </a:bodyPr>
          <a:lstStyle/>
          <a:p>
            <a:pPr algn="l"/>
            <a:r>
              <a:rPr sz="3000" b="0" i="0">
                <a:solidFill>
                  <a:srgbClr val="008C95"/>
                </a:solidFill>
                <a:latin typeface="Georgia"/>
              </a:rPr>
              <a:t>The Throat Concept</a:t>
            </a:r>
          </a:p>
        </p:txBody>
      </p:sp>
      <p:sp>
        <p:nvSpPr>
          <p:cNvPr id="5" name="Rectangle 4"/>
          <p:cNvSpPr/>
          <p:nvPr/>
        </p:nvSpPr>
        <p:spPr>
          <a:xfrm>
            <a:off x="502920" y="1965960"/>
            <a:ext cx="5943600" cy="4754880"/>
          </a:xfrm>
          <a:prstGeom prst="rect">
            <a:avLst/>
          </a:prstGeom>
          <a:solidFill>
            <a:srgbClr val="F7FCFB"/>
          </a:solidFill>
          <a:ln w="12700">
            <a:solidFill>
              <a:srgbClr val="C8E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68680" y="2331720"/>
            <a:ext cx="5212080" cy="4023360"/>
          </a:xfrm>
          <a:prstGeom prst="rect">
            <a:avLst/>
          </a:prstGeom>
          <a:noFill/>
          <a:ln w="12700">
            <a:solidFill>
              <a:srgbClr val="9AAD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0120" y="2880360"/>
            <a:ext cx="640080" cy="2743200"/>
          </a:xfrm>
          <a:prstGeom prst="rect">
            <a:avLst/>
          </a:prstGeom>
          <a:solidFill>
            <a:srgbClr val="DCF2F0"/>
          </a:solidFill>
          <a:ln w="19050">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3886200"/>
            <a:ext cx="640080" cy="731520"/>
          </a:xfrm>
          <a:prstGeom prst="rect">
            <a:avLst/>
          </a:prstGeom>
          <a:noFill/>
        </p:spPr>
        <p:txBody>
          <a:bodyPr wrap="square">
            <a:spAutoFit/>
          </a:bodyPr>
          <a:lstStyle/>
          <a:p>
            <a:pPr algn="ctr"/>
            <a:r>
              <a:rPr sz="800" b="1" i="0">
                <a:solidFill>
                  <a:srgbClr val="008C95"/>
                </a:solidFill>
                <a:latin typeface="Calibri"/>
              </a:rPr>
              <a:t>LEFT
RAIL
1.75"</a:t>
            </a:r>
          </a:p>
        </p:txBody>
      </p:sp>
      <p:sp>
        <p:nvSpPr>
          <p:cNvPr id="9" name="Rectangle 8"/>
          <p:cNvSpPr/>
          <p:nvPr/>
        </p:nvSpPr>
        <p:spPr>
          <a:xfrm>
            <a:off x="5349240" y="2880360"/>
            <a:ext cx="640080" cy="2743200"/>
          </a:xfrm>
          <a:prstGeom prst="rect">
            <a:avLst/>
          </a:prstGeom>
          <a:solidFill>
            <a:srgbClr val="DCF2F0"/>
          </a:solidFill>
          <a:ln w="19050">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49240" y="3886200"/>
            <a:ext cx="640080" cy="731520"/>
          </a:xfrm>
          <a:prstGeom prst="rect">
            <a:avLst/>
          </a:prstGeom>
          <a:noFill/>
        </p:spPr>
        <p:txBody>
          <a:bodyPr wrap="square">
            <a:spAutoFit/>
          </a:bodyPr>
          <a:lstStyle/>
          <a:p>
            <a:pPr algn="ctr"/>
            <a:r>
              <a:rPr sz="800" b="1" i="0">
                <a:solidFill>
                  <a:srgbClr val="008C95"/>
                </a:solidFill>
                <a:latin typeface="Calibri"/>
              </a:rPr>
              <a:t>RIGHT
RAIL
1.75"</a:t>
            </a:r>
          </a:p>
        </p:txBody>
      </p:sp>
      <p:sp>
        <p:nvSpPr>
          <p:cNvPr id="11" name="Rectangle 10"/>
          <p:cNvSpPr/>
          <p:nvPr/>
        </p:nvSpPr>
        <p:spPr>
          <a:xfrm>
            <a:off x="1600200" y="2880360"/>
            <a:ext cx="3749040" cy="2743200"/>
          </a:xfrm>
          <a:prstGeom prst="rect">
            <a:avLst/>
          </a:prstGeom>
          <a:solidFill>
            <a:srgbClr val="EB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00200" y="3977640"/>
            <a:ext cx="3749040" cy="548640"/>
          </a:xfrm>
          <a:prstGeom prst="rect">
            <a:avLst/>
          </a:prstGeom>
          <a:noFill/>
        </p:spPr>
        <p:txBody>
          <a:bodyPr wrap="square">
            <a:spAutoFit/>
          </a:bodyPr>
          <a:lstStyle/>
          <a:p>
            <a:pPr algn="ctr"/>
            <a:r>
              <a:rPr sz="900" b="1" i="0">
                <a:solidFill>
                  <a:srgbClr val="4C4C4E"/>
                </a:solidFill>
                <a:latin typeface="Calibri"/>
              </a:rPr>
              <a:t>CLEAR THROAT
10.5"</a:t>
            </a:r>
          </a:p>
        </p:txBody>
      </p:sp>
      <p:sp>
        <p:nvSpPr>
          <p:cNvPr id="13" name="TextBox 12"/>
          <p:cNvSpPr txBox="1"/>
          <p:nvPr/>
        </p:nvSpPr>
        <p:spPr>
          <a:xfrm>
            <a:off x="1600200" y="2560320"/>
            <a:ext cx="3749040" cy="320040"/>
          </a:xfrm>
          <a:prstGeom prst="rect">
            <a:avLst/>
          </a:prstGeom>
          <a:noFill/>
        </p:spPr>
        <p:txBody>
          <a:bodyPr wrap="square">
            <a:spAutoFit/>
          </a:bodyPr>
          <a:lstStyle/>
          <a:p>
            <a:pPr algn="ctr"/>
            <a:r>
              <a:rPr sz="800" b="0" i="0">
                <a:solidFill>
                  <a:srgbClr val="969698"/>
                </a:solidFill>
                <a:latin typeface="Calibri"/>
              </a:rPr>
              <a:t>ENTRY → PASSAGE → COMMIT</a:t>
            </a:r>
          </a:p>
        </p:txBody>
      </p:sp>
      <p:sp>
        <p:nvSpPr>
          <p:cNvPr id="14" name="Rectangle 13"/>
          <p:cNvSpPr/>
          <p:nvPr/>
        </p:nvSpPr>
        <p:spPr>
          <a:xfrm>
            <a:off x="1115568" y="3246120"/>
            <a:ext cx="329184" cy="329184"/>
          </a:xfrm>
          <a:prstGeom prst="rect">
            <a:avLst/>
          </a:prstGeom>
          <a:solidFill>
            <a:srgbClr val="008C9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8" y="3227832"/>
            <a:ext cx="274320" cy="228600"/>
          </a:xfrm>
          <a:prstGeom prst="rect">
            <a:avLst/>
          </a:prstGeom>
          <a:noFill/>
        </p:spPr>
        <p:txBody>
          <a:bodyPr wrap="square">
            <a:spAutoFit/>
          </a:bodyPr>
          <a:lstStyle/>
          <a:p>
            <a:pPr algn="r"/>
            <a:r>
              <a:rPr sz="1000" b="1" i="0">
                <a:solidFill>
                  <a:srgbClr val="008C95"/>
                </a:solidFill>
                <a:latin typeface="Calibri"/>
              </a:rPr>
              <a:t>A</a:t>
            </a:r>
          </a:p>
        </p:txBody>
      </p:sp>
      <p:sp>
        <p:nvSpPr>
          <p:cNvPr id="16" name="Rectangle 15"/>
          <p:cNvSpPr/>
          <p:nvPr/>
        </p:nvSpPr>
        <p:spPr>
          <a:xfrm>
            <a:off x="5504688" y="3246120"/>
            <a:ext cx="329184" cy="329184"/>
          </a:xfrm>
          <a:prstGeom prst="rect">
            <a:avLst/>
          </a:prstGeom>
          <a:solidFill>
            <a:srgbClr val="008C9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79592" y="3227832"/>
            <a:ext cx="274320" cy="228600"/>
          </a:xfrm>
          <a:prstGeom prst="rect">
            <a:avLst/>
          </a:prstGeom>
          <a:noFill/>
        </p:spPr>
        <p:txBody>
          <a:bodyPr wrap="square">
            <a:spAutoFit/>
          </a:bodyPr>
          <a:lstStyle/>
          <a:p>
            <a:pPr algn="l"/>
            <a:r>
              <a:rPr sz="1000" b="1" i="0">
                <a:solidFill>
                  <a:srgbClr val="008C95"/>
                </a:solidFill>
                <a:latin typeface="Calibri"/>
              </a:rPr>
              <a:t>B</a:t>
            </a:r>
          </a:p>
        </p:txBody>
      </p:sp>
      <p:sp>
        <p:nvSpPr>
          <p:cNvPr id="18" name="Rectangle 17"/>
          <p:cNvSpPr/>
          <p:nvPr/>
        </p:nvSpPr>
        <p:spPr>
          <a:xfrm>
            <a:off x="1115568" y="4800600"/>
            <a:ext cx="329184" cy="329184"/>
          </a:xfrm>
          <a:prstGeom prst="rect">
            <a:avLst/>
          </a:prstGeom>
          <a:solidFill>
            <a:srgbClr val="D69A2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8" y="4782312"/>
            <a:ext cx="274320" cy="228600"/>
          </a:xfrm>
          <a:prstGeom prst="rect">
            <a:avLst/>
          </a:prstGeom>
          <a:noFill/>
        </p:spPr>
        <p:txBody>
          <a:bodyPr wrap="square">
            <a:spAutoFit/>
          </a:bodyPr>
          <a:lstStyle/>
          <a:p>
            <a:pPr algn="r"/>
            <a:r>
              <a:rPr sz="1000" b="1" i="0">
                <a:solidFill>
                  <a:srgbClr val="D69A2D"/>
                </a:solidFill>
                <a:latin typeface="Calibri"/>
              </a:rPr>
              <a:t>C</a:t>
            </a:r>
          </a:p>
        </p:txBody>
      </p:sp>
      <p:sp>
        <p:nvSpPr>
          <p:cNvPr id="20" name="Rectangle 19"/>
          <p:cNvSpPr/>
          <p:nvPr/>
        </p:nvSpPr>
        <p:spPr>
          <a:xfrm>
            <a:off x="5504688" y="4800600"/>
            <a:ext cx="329184" cy="329184"/>
          </a:xfrm>
          <a:prstGeom prst="rect">
            <a:avLst/>
          </a:prstGeom>
          <a:solidFill>
            <a:srgbClr val="D69A2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79592" y="4782312"/>
            <a:ext cx="274320" cy="228600"/>
          </a:xfrm>
          <a:prstGeom prst="rect">
            <a:avLst/>
          </a:prstGeom>
          <a:noFill/>
        </p:spPr>
        <p:txBody>
          <a:bodyPr wrap="square">
            <a:spAutoFit/>
          </a:bodyPr>
          <a:lstStyle/>
          <a:p>
            <a:pPr algn="l"/>
            <a:r>
              <a:rPr sz="1000" b="1" i="0">
                <a:solidFill>
                  <a:srgbClr val="D69A2D"/>
                </a:solidFill>
                <a:latin typeface="Calibri"/>
              </a:rPr>
              <a:t>D</a:t>
            </a:r>
          </a:p>
        </p:txBody>
      </p:sp>
      <p:sp>
        <p:nvSpPr>
          <p:cNvPr id="22" name="TextBox 21"/>
          <p:cNvSpPr txBox="1"/>
          <p:nvPr/>
        </p:nvSpPr>
        <p:spPr>
          <a:xfrm>
            <a:off x="868680" y="6309360"/>
            <a:ext cx="5212080" cy="320040"/>
          </a:xfrm>
          <a:prstGeom prst="rect">
            <a:avLst/>
          </a:prstGeom>
          <a:noFill/>
        </p:spPr>
        <p:txBody>
          <a:bodyPr wrap="square">
            <a:spAutoFit/>
          </a:bodyPr>
          <a:lstStyle/>
          <a:p>
            <a:pPr algn="ctr"/>
            <a:r>
              <a:rPr sz="900" b="0" i="0">
                <a:solidFill>
                  <a:srgbClr val="4C4C4E"/>
                </a:solidFill>
                <a:latin typeface="Calibri"/>
              </a:rPr>
              <a:t>←————— 14" slot envelope —————→</a:t>
            </a:r>
          </a:p>
        </p:txBody>
      </p:sp>
      <p:sp>
        <p:nvSpPr>
          <p:cNvPr id="23" name="TextBox 22"/>
          <p:cNvSpPr txBox="1"/>
          <p:nvPr/>
        </p:nvSpPr>
        <p:spPr>
          <a:xfrm>
            <a:off x="6720840" y="1965960"/>
            <a:ext cx="4967935" cy="320040"/>
          </a:xfrm>
          <a:prstGeom prst="rect">
            <a:avLst/>
          </a:prstGeom>
          <a:noFill/>
        </p:spPr>
        <p:txBody>
          <a:bodyPr wrap="square">
            <a:spAutoFit/>
          </a:bodyPr>
          <a:lstStyle/>
          <a:p>
            <a:pPr algn="l"/>
            <a:r>
              <a:rPr sz="1300" b="1" i="0">
                <a:solidFill>
                  <a:srgbClr val="4C4C4E"/>
                </a:solidFill>
                <a:latin typeface="Calibri"/>
              </a:rPr>
              <a:t>4 cameras, 2 rails</a:t>
            </a:r>
          </a:p>
        </p:txBody>
      </p:sp>
      <p:sp>
        <p:nvSpPr>
          <p:cNvPr id="24" name="Rectangle 23"/>
          <p:cNvSpPr/>
          <p:nvPr/>
        </p:nvSpPr>
        <p:spPr>
          <a:xfrm>
            <a:off x="6720840" y="2441448"/>
            <a:ext cx="128016" cy="128016"/>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22008" y="2377440"/>
            <a:ext cx="4766767" cy="274320"/>
          </a:xfrm>
          <a:prstGeom prst="rect">
            <a:avLst/>
          </a:prstGeom>
          <a:noFill/>
        </p:spPr>
        <p:txBody>
          <a:bodyPr wrap="square">
            <a:spAutoFit/>
          </a:bodyPr>
          <a:lstStyle/>
          <a:p>
            <a:pPr algn="l"/>
            <a:r>
              <a:rPr sz="1200" b="0" i="0">
                <a:solidFill>
                  <a:srgbClr val="4C4C4E"/>
                </a:solidFill>
                <a:latin typeface="Calibri"/>
              </a:rPr>
              <a:t>A, B — Cross-view main cameras</a:t>
            </a:r>
          </a:p>
        </p:txBody>
      </p:sp>
      <p:sp>
        <p:nvSpPr>
          <p:cNvPr id="26" name="Rectangle 25"/>
          <p:cNvSpPr/>
          <p:nvPr/>
        </p:nvSpPr>
        <p:spPr>
          <a:xfrm>
            <a:off x="6720840" y="2788920"/>
            <a:ext cx="128016" cy="128016"/>
          </a:xfrm>
          <a:prstGeom prst="rect">
            <a:avLst/>
          </a:prstGeom>
          <a:solidFill>
            <a:srgbClr val="D69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22008" y="2724912"/>
            <a:ext cx="4766767" cy="274320"/>
          </a:xfrm>
          <a:prstGeom prst="rect">
            <a:avLst/>
          </a:prstGeom>
          <a:noFill/>
        </p:spPr>
        <p:txBody>
          <a:bodyPr wrap="square">
            <a:spAutoFit/>
          </a:bodyPr>
          <a:lstStyle/>
          <a:p>
            <a:pPr algn="l"/>
            <a:r>
              <a:rPr sz="1200" b="0" i="0">
                <a:solidFill>
                  <a:srgbClr val="4C4C4E"/>
                </a:solidFill>
                <a:latin typeface="Calibri"/>
              </a:rPr>
              <a:t>C, D — Entry / commit watchers</a:t>
            </a:r>
          </a:p>
        </p:txBody>
      </p:sp>
      <p:sp>
        <p:nvSpPr>
          <p:cNvPr id="28" name="TextBox 27"/>
          <p:cNvSpPr txBox="1"/>
          <p:nvPr/>
        </p:nvSpPr>
        <p:spPr>
          <a:xfrm>
            <a:off x="6720840" y="3163824"/>
            <a:ext cx="4967935" cy="320040"/>
          </a:xfrm>
          <a:prstGeom prst="rect">
            <a:avLst/>
          </a:prstGeom>
          <a:noFill/>
        </p:spPr>
        <p:txBody>
          <a:bodyPr wrap="square">
            <a:spAutoFit/>
          </a:bodyPr>
          <a:lstStyle/>
          <a:p>
            <a:pPr algn="l"/>
            <a:r>
              <a:rPr sz="1100" b="0" i="1">
                <a:solidFill>
                  <a:srgbClr val="969698"/>
                </a:solidFill>
                <a:latin typeface="Calibri"/>
              </a:rPr>
              <a:t>Cameras sealed behind polycarbonate windows — no electronics in the wet zone</a:t>
            </a:r>
          </a:p>
        </p:txBody>
      </p:sp>
      <p:sp>
        <p:nvSpPr>
          <p:cNvPr id="29" name="TextBox 28"/>
          <p:cNvSpPr txBox="1"/>
          <p:nvPr/>
        </p:nvSpPr>
        <p:spPr>
          <a:xfrm>
            <a:off x="6720840" y="3621024"/>
            <a:ext cx="4967935" cy="320040"/>
          </a:xfrm>
          <a:prstGeom prst="rect">
            <a:avLst/>
          </a:prstGeom>
          <a:noFill/>
        </p:spPr>
        <p:txBody>
          <a:bodyPr wrap="square">
            <a:spAutoFit/>
          </a:bodyPr>
          <a:lstStyle/>
          <a:p>
            <a:pPr algn="l"/>
            <a:r>
              <a:rPr sz="1200" b="1" i="0">
                <a:solidFill>
                  <a:srgbClr val="4C4C4E"/>
                </a:solidFill>
                <a:latin typeface="Calibri"/>
              </a:rPr>
              <a:t>Detection question:</a:t>
            </a:r>
          </a:p>
        </p:txBody>
      </p:sp>
      <p:sp>
        <p:nvSpPr>
          <p:cNvPr id="30" name="TextBox 29"/>
          <p:cNvSpPr txBox="1"/>
          <p:nvPr/>
        </p:nvSpPr>
        <p:spPr>
          <a:xfrm>
            <a:off x="6720840" y="3941064"/>
            <a:ext cx="4967935" cy="640080"/>
          </a:xfrm>
          <a:prstGeom prst="rect">
            <a:avLst/>
          </a:prstGeom>
          <a:noFill/>
        </p:spPr>
        <p:txBody>
          <a:bodyPr wrap="square">
            <a:spAutoFit/>
          </a:bodyPr>
          <a:lstStyle/>
          <a:p>
            <a:pPr algn="l"/>
            <a:r>
              <a:rPr sz="1200" b="0" i="1">
                <a:solidFill>
                  <a:srgbClr val="4C4C4E"/>
                </a:solidFill>
                <a:latin typeface="Calibri"/>
              </a:rPr>
              <a:t>Did something substantial pass fully through the throat after a QR scan?</a:t>
            </a:r>
          </a:p>
        </p:txBody>
      </p:sp>
      <p:sp>
        <p:nvSpPr>
          <p:cNvPr id="31" name="Rectangle 30"/>
          <p:cNvSpPr/>
          <p:nvPr/>
        </p:nvSpPr>
        <p:spPr>
          <a:xfrm>
            <a:off x="6720840" y="4828032"/>
            <a:ext cx="64008" cy="64008"/>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03720" y="4718304"/>
            <a:ext cx="4785055" cy="320040"/>
          </a:xfrm>
          <a:prstGeom prst="rect">
            <a:avLst/>
          </a:prstGeom>
          <a:noFill/>
        </p:spPr>
        <p:txBody>
          <a:bodyPr wrap="square">
            <a:spAutoFit/>
          </a:bodyPr>
          <a:lstStyle/>
          <a:p>
            <a:pPr algn="l"/>
            <a:r>
              <a:rPr sz="1200" b="0" i="0">
                <a:solidFill>
                  <a:srgbClr val="4C4C4E"/>
                </a:solidFill>
                <a:latin typeface="Calibri"/>
              </a:rPr>
              <a:t>USB cameras only — no bulky electronics in wet zone</a:t>
            </a:r>
          </a:p>
        </p:txBody>
      </p:sp>
      <p:sp>
        <p:nvSpPr>
          <p:cNvPr id="33" name="Rectangle 32"/>
          <p:cNvSpPr/>
          <p:nvPr/>
        </p:nvSpPr>
        <p:spPr>
          <a:xfrm>
            <a:off x="6720840" y="5148072"/>
            <a:ext cx="64008" cy="64008"/>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03720" y="5038344"/>
            <a:ext cx="4785055" cy="320040"/>
          </a:xfrm>
          <a:prstGeom prst="rect">
            <a:avLst/>
          </a:prstGeom>
          <a:noFill/>
        </p:spPr>
        <p:txBody>
          <a:bodyPr wrap="square">
            <a:spAutoFit/>
          </a:bodyPr>
          <a:lstStyle/>
          <a:p>
            <a:pPr algn="l"/>
            <a:r>
              <a:rPr sz="1200" b="0" i="0">
                <a:solidFill>
                  <a:srgbClr val="4C4C4E"/>
                </a:solidFill>
                <a:latin typeface="Calibri"/>
              </a:rPr>
              <a:t>Scan-triggered capture window</a:t>
            </a:r>
          </a:p>
        </p:txBody>
      </p:sp>
      <p:sp>
        <p:nvSpPr>
          <p:cNvPr id="35" name="Rectangle 34"/>
          <p:cNvSpPr/>
          <p:nvPr/>
        </p:nvSpPr>
        <p:spPr>
          <a:xfrm>
            <a:off x="6720840" y="5468112"/>
            <a:ext cx="64008" cy="64008"/>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03720" y="5358384"/>
            <a:ext cx="4785055" cy="320040"/>
          </a:xfrm>
          <a:prstGeom prst="rect">
            <a:avLst/>
          </a:prstGeom>
          <a:noFill/>
        </p:spPr>
        <p:txBody>
          <a:bodyPr wrap="square">
            <a:spAutoFit/>
          </a:bodyPr>
          <a:lstStyle/>
          <a:p>
            <a:pPr algn="l"/>
            <a:r>
              <a:rPr sz="1200" b="0" i="0">
                <a:solidFill>
                  <a:srgbClr val="4C4C4E"/>
                </a:solidFill>
                <a:latin typeface="Calibri"/>
              </a:rPr>
              <a:t>Multiple angles reduce false negatives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11535" y="164592"/>
            <a:ext cx="1097280" cy="274320"/>
          </a:xfrm>
          <a:prstGeom prst="rect">
            <a:avLst/>
          </a:prstGeom>
          <a:noFill/>
        </p:spPr>
        <p:txBody>
          <a:bodyPr wrap="square">
            <a:spAutoFit/>
          </a:bodyPr>
          <a:lstStyle/>
          <a:p>
            <a:pPr algn="r"/>
            <a:r>
              <a:rPr sz="900" b="0" i="0">
                <a:solidFill>
                  <a:srgbClr val="969698"/>
                </a:solidFill>
                <a:latin typeface="Calibri"/>
              </a:rPr>
              <a:t>06 / 11</a:t>
            </a:r>
          </a:p>
        </p:txBody>
      </p:sp>
      <p:sp>
        <p:nvSpPr>
          <p:cNvPr id="3" name="TextBox 2"/>
          <p:cNvSpPr txBox="1"/>
          <p:nvPr/>
        </p:nvSpPr>
        <p:spPr>
          <a:xfrm>
            <a:off x="502920" y="1005840"/>
            <a:ext cx="11185855" cy="274320"/>
          </a:xfrm>
          <a:prstGeom prst="rect">
            <a:avLst/>
          </a:prstGeom>
          <a:noFill/>
        </p:spPr>
        <p:txBody>
          <a:bodyPr wrap="square">
            <a:spAutoFit/>
          </a:bodyPr>
          <a:lstStyle/>
          <a:p>
            <a:pPr algn="l"/>
            <a:r>
              <a:rPr sz="1000" b="1" i="0">
                <a:solidFill>
                  <a:srgbClr val="D69A2D"/>
                </a:solidFill>
                <a:latin typeface="Calibri"/>
              </a:rPr>
              <a:t>SYSTEM ARCHITECTURE</a:t>
            </a:r>
          </a:p>
        </p:txBody>
      </p:sp>
      <p:sp>
        <p:nvSpPr>
          <p:cNvPr id="4" name="TextBox 3"/>
          <p:cNvSpPr txBox="1"/>
          <p:nvPr/>
        </p:nvSpPr>
        <p:spPr>
          <a:xfrm>
            <a:off x="502920" y="1298448"/>
            <a:ext cx="11185855" cy="731520"/>
          </a:xfrm>
          <a:prstGeom prst="rect">
            <a:avLst/>
          </a:prstGeom>
          <a:noFill/>
        </p:spPr>
        <p:txBody>
          <a:bodyPr wrap="square">
            <a:spAutoFit/>
          </a:bodyPr>
          <a:lstStyle/>
          <a:p>
            <a:pPr algn="l"/>
            <a:r>
              <a:rPr sz="3000" b="0" i="0">
                <a:solidFill>
                  <a:srgbClr val="008C95"/>
                </a:solidFill>
                <a:latin typeface="Georgia"/>
              </a:rPr>
              <a:t>What's Inside the System</a:t>
            </a:r>
          </a:p>
        </p:txBody>
      </p:sp>
      <p:sp>
        <p:nvSpPr>
          <p:cNvPr id="5" name="TextBox 4"/>
          <p:cNvSpPr txBox="1"/>
          <p:nvPr/>
        </p:nvSpPr>
        <p:spPr>
          <a:xfrm>
            <a:off x="502920" y="1755648"/>
            <a:ext cx="1920240" cy="228600"/>
          </a:xfrm>
          <a:prstGeom prst="rect">
            <a:avLst/>
          </a:prstGeom>
          <a:noFill/>
        </p:spPr>
        <p:txBody>
          <a:bodyPr wrap="square">
            <a:spAutoFit/>
          </a:bodyPr>
          <a:lstStyle/>
          <a:p>
            <a:pPr algn="l"/>
            <a:r>
              <a:rPr sz="800" b="1" i="0">
                <a:solidFill>
                  <a:srgbClr val="006B72"/>
                </a:solidFill>
                <a:latin typeface="Calibri"/>
              </a:rPr>
              <a:t>WET ZONE</a:t>
            </a:r>
          </a:p>
        </p:txBody>
      </p:sp>
      <p:sp>
        <p:nvSpPr>
          <p:cNvPr id="6" name="Rectangle 5"/>
          <p:cNvSpPr/>
          <p:nvPr/>
        </p:nvSpPr>
        <p:spPr>
          <a:xfrm>
            <a:off x="502920" y="2011680"/>
            <a:ext cx="1828800" cy="502920"/>
          </a:xfrm>
          <a:prstGeom prst="rect">
            <a:avLst/>
          </a:prstGeom>
          <a:solidFill>
            <a:srgbClr val="DCF2F0"/>
          </a:solidFill>
          <a:ln w="12700">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2121408"/>
            <a:ext cx="1645920" cy="320040"/>
          </a:xfrm>
          <a:prstGeom prst="rect">
            <a:avLst/>
          </a:prstGeom>
          <a:noFill/>
        </p:spPr>
        <p:txBody>
          <a:bodyPr wrap="square">
            <a:spAutoFit/>
          </a:bodyPr>
          <a:lstStyle/>
          <a:p>
            <a:pPr algn="l"/>
            <a:r>
              <a:rPr sz="1200" b="0" i="0">
                <a:solidFill>
                  <a:srgbClr val="006B72"/>
                </a:solidFill>
                <a:latin typeface="Calibri"/>
              </a:rPr>
              <a:t>Camera A</a:t>
            </a:r>
          </a:p>
        </p:txBody>
      </p:sp>
      <p:sp>
        <p:nvSpPr>
          <p:cNvPr id="8" name="Rectangle 7"/>
          <p:cNvSpPr/>
          <p:nvPr/>
        </p:nvSpPr>
        <p:spPr>
          <a:xfrm>
            <a:off x="502920" y="2587752"/>
            <a:ext cx="1828800" cy="502920"/>
          </a:xfrm>
          <a:prstGeom prst="rect">
            <a:avLst/>
          </a:prstGeom>
          <a:solidFill>
            <a:srgbClr val="DCF2F0"/>
          </a:solidFill>
          <a:ln w="12700">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697480"/>
            <a:ext cx="1645920" cy="320040"/>
          </a:xfrm>
          <a:prstGeom prst="rect">
            <a:avLst/>
          </a:prstGeom>
          <a:noFill/>
        </p:spPr>
        <p:txBody>
          <a:bodyPr wrap="square">
            <a:spAutoFit/>
          </a:bodyPr>
          <a:lstStyle/>
          <a:p>
            <a:pPr algn="l"/>
            <a:r>
              <a:rPr sz="1200" b="0" i="0">
                <a:solidFill>
                  <a:srgbClr val="006B72"/>
                </a:solidFill>
                <a:latin typeface="Calibri"/>
              </a:rPr>
              <a:t>Camera B</a:t>
            </a:r>
          </a:p>
        </p:txBody>
      </p:sp>
      <p:sp>
        <p:nvSpPr>
          <p:cNvPr id="10" name="Rectangle 9"/>
          <p:cNvSpPr/>
          <p:nvPr/>
        </p:nvSpPr>
        <p:spPr>
          <a:xfrm>
            <a:off x="502920" y="3163824"/>
            <a:ext cx="1828800" cy="502920"/>
          </a:xfrm>
          <a:prstGeom prst="rect">
            <a:avLst/>
          </a:prstGeom>
          <a:solidFill>
            <a:srgbClr val="DCF2F0"/>
          </a:solidFill>
          <a:ln w="12700">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3273552"/>
            <a:ext cx="1645920" cy="320040"/>
          </a:xfrm>
          <a:prstGeom prst="rect">
            <a:avLst/>
          </a:prstGeom>
          <a:noFill/>
        </p:spPr>
        <p:txBody>
          <a:bodyPr wrap="square">
            <a:spAutoFit/>
          </a:bodyPr>
          <a:lstStyle/>
          <a:p>
            <a:pPr algn="l"/>
            <a:r>
              <a:rPr sz="1200" b="0" i="0">
                <a:solidFill>
                  <a:srgbClr val="006B72"/>
                </a:solidFill>
                <a:latin typeface="Calibri"/>
              </a:rPr>
              <a:t>Camera C</a:t>
            </a:r>
          </a:p>
        </p:txBody>
      </p:sp>
      <p:sp>
        <p:nvSpPr>
          <p:cNvPr id="12" name="Rectangle 11"/>
          <p:cNvSpPr/>
          <p:nvPr/>
        </p:nvSpPr>
        <p:spPr>
          <a:xfrm>
            <a:off x="502920" y="3739896"/>
            <a:ext cx="1828800" cy="502920"/>
          </a:xfrm>
          <a:prstGeom prst="rect">
            <a:avLst/>
          </a:prstGeom>
          <a:solidFill>
            <a:srgbClr val="DCF2F0"/>
          </a:solidFill>
          <a:ln w="12700">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3849624"/>
            <a:ext cx="1645920" cy="320040"/>
          </a:xfrm>
          <a:prstGeom prst="rect">
            <a:avLst/>
          </a:prstGeom>
          <a:noFill/>
        </p:spPr>
        <p:txBody>
          <a:bodyPr wrap="square">
            <a:spAutoFit/>
          </a:bodyPr>
          <a:lstStyle/>
          <a:p>
            <a:pPr algn="l"/>
            <a:r>
              <a:rPr sz="1200" b="0" i="0">
                <a:solidFill>
                  <a:srgbClr val="006B72"/>
                </a:solidFill>
                <a:latin typeface="Calibri"/>
              </a:rPr>
              <a:t>Camera D</a:t>
            </a:r>
          </a:p>
        </p:txBody>
      </p:sp>
      <p:sp>
        <p:nvSpPr>
          <p:cNvPr id="14" name="TextBox 13"/>
          <p:cNvSpPr txBox="1"/>
          <p:nvPr/>
        </p:nvSpPr>
        <p:spPr>
          <a:xfrm>
            <a:off x="2331720" y="2926080"/>
            <a:ext cx="548640" cy="548640"/>
          </a:xfrm>
          <a:prstGeom prst="rect">
            <a:avLst/>
          </a:prstGeom>
          <a:noFill/>
        </p:spPr>
        <p:txBody>
          <a:bodyPr wrap="square">
            <a:spAutoFit/>
          </a:bodyPr>
          <a:lstStyle/>
          <a:p>
            <a:pPr algn="ctr"/>
            <a:r>
              <a:rPr sz="1200" b="0" i="0">
                <a:solidFill>
                  <a:srgbClr val="969698"/>
                </a:solidFill>
                <a:latin typeface="Calibri"/>
              </a:rPr>
              <a:t>→
USB</a:t>
            </a:r>
          </a:p>
        </p:txBody>
      </p:sp>
      <p:sp>
        <p:nvSpPr>
          <p:cNvPr id="15" name="TextBox 14"/>
          <p:cNvSpPr txBox="1"/>
          <p:nvPr/>
        </p:nvSpPr>
        <p:spPr>
          <a:xfrm>
            <a:off x="2880360" y="1755648"/>
            <a:ext cx="3840480" cy="228600"/>
          </a:xfrm>
          <a:prstGeom prst="rect">
            <a:avLst/>
          </a:prstGeom>
          <a:noFill/>
        </p:spPr>
        <p:txBody>
          <a:bodyPr wrap="square">
            <a:spAutoFit/>
          </a:bodyPr>
          <a:lstStyle/>
          <a:p>
            <a:pPr algn="l"/>
            <a:r>
              <a:rPr sz="800" b="1" i="0">
                <a:solidFill>
                  <a:srgbClr val="006B72"/>
                </a:solidFill>
                <a:latin typeface="Calibri"/>
              </a:rPr>
              <a:t>DRY BAY (SEALED)</a:t>
            </a:r>
          </a:p>
        </p:txBody>
      </p:sp>
      <p:sp>
        <p:nvSpPr>
          <p:cNvPr id="16" name="Rectangle 15"/>
          <p:cNvSpPr/>
          <p:nvPr/>
        </p:nvSpPr>
        <p:spPr>
          <a:xfrm>
            <a:off x="2880360" y="2468880"/>
            <a:ext cx="1645920" cy="731520"/>
          </a:xfrm>
          <a:prstGeom prst="rect">
            <a:avLst/>
          </a:prstGeom>
          <a:solidFill>
            <a:srgbClr val="FFF6DC"/>
          </a:solidFill>
          <a:ln w="19050">
            <a:solidFill>
              <a:srgbClr val="D69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71800" y="2633472"/>
            <a:ext cx="1463040" cy="457200"/>
          </a:xfrm>
          <a:prstGeom prst="rect">
            <a:avLst/>
          </a:prstGeom>
          <a:noFill/>
        </p:spPr>
        <p:txBody>
          <a:bodyPr wrap="square">
            <a:spAutoFit/>
          </a:bodyPr>
          <a:lstStyle/>
          <a:p>
            <a:pPr algn="l"/>
            <a:r>
              <a:rPr sz="1200" b="1" i="0">
                <a:solidFill>
                  <a:srgbClr val="8A6000"/>
                </a:solidFill>
                <a:latin typeface="Calibri"/>
              </a:rPr>
              <a:t>Powered USB Hub</a:t>
            </a:r>
          </a:p>
        </p:txBody>
      </p:sp>
      <p:sp>
        <p:nvSpPr>
          <p:cNvPr id="18" name="Rectangle 17"/>
          <p:cNvSpPr/>
          <p:nvPr/>
        </p:nvSpPr>
        <p:spPr>
          <a:xfrm>
            <a:off x="2880360" y="3383280"/>
            <a:ext cx="2011680" cy="914400"/>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3566160"/>
            <a:ext cx="1828800" cy="548640"/>
          </a:xfrm>
          <a:prstGeom prst="rect">
            <a:avLst/>
          </a:prstGeom>
          <a:noFill/>
        </p:spPr>
        <p:txBody>
          <a:bodyPr wrap="square">
            <a:spAutoFit/>
          </a:bodyPr>
          <a:lstStyle/>
          <a:p>
            <a:pPr algn="l"/>
            <a:r>
              <a:rPr sz="1200" b="1" i="0">
                <a:solidFill>
                  <a:srgbClr val="FFFFFF"/>
                </a:solidFill>
                <a:latin typeface="Calibri"/>
              </a:rPr>
              <a:t>Mini PC
(edge compute)</a:t>
            </a:r>
          </a:p>
        </p:txBody>
      </p:sp>
      <p:sp>
        <p:nvSpPr>
          <p:cNvPr id="20" name="Rectangle 19"/>
          <p:cNvSpPr/>
          <p:nvPr/>
        </p:nvSpPr>
        <p:spPr>
          <a:xfrm>
            <a:off x="2880360" y="4480560"/>
            <a:ext cx="2011680" cy="594360"/>
          </a:xfrm>
          <a:prstGeom prst="rect">
            <a:avLst/>
          </a:prstGeom>
          <a:solidFill>
            <a:srgbClr val="EDECE8"/>
          </a:solidFill>
          <a:ln w="12700">
            <a:solidFill>
              <a:srgbClr val="9696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71800" y="4617720"/>
            <a:ext cx="1828800" cy="365760"/>
          </a:xfrm>
          <a:prstGeom prst="rect">
            <a:avLst/>
          </a:prstGeom>
          <a:noFill/>
        </p:spPr>
        <p:txBody>
          <a:bodyPr wrap="square">
            <a:spAutoFit/>
          </a:bodyPr>
          <a:lstStyle/>
          <a:p>
            <a:pPr algn="l"/>
            <a:r>
              <a:rPr sz="1200" b="0" i="0">
                <a:solidFill>
                  <a:srgbClr val="4C4C4E"/>
                </a:solidFill>
                <a:latin typeface="Calibri"/>
              </a:rPr>
              <a:t>Power distribution</a:t>
            </a:r>
          </a:p>
        </p:txBody>
      </p:sp>
      <p:sp>
        <p:nvSpPr>
          <p:cNvPr id="22" name="TextBox 21"/>
          <p:cNvSpPr txBox="1"/>
          <p:nvPr/>
        </p:nvSpPr>
        <p:spPr>
          <a:xfrm>
            <a:off x="4892040" y="2926080"/>
            <a:ext cx="548640" cy="548640"/>
          </a:xfrm>
          <a:prstGeom prst="rect">
            <a:avLst/>
          </a:prstGeom>
          <a:noFill/>
        </p:spPr>
        <p:txBody>
          <a:bodyPr wrap="square">
            <a:spAutoFit/>
          </a:bodyPr>
          <a:lstStyle/>
          <a:p>
            <a:pPr algn="ctr"/>
            <a:r>
              <a:rPr sz="1100" b="0" i="0">
                <a:solidFill>
                  <a:srgbClr val="969698"/>
                </a:solidFill>
                <a:latin typeface="Calibri"/>
              </a:rPr>
              <a:t>→
Ethernet</a:t>
            </a:r>
          </a:p>
        </p:txBody>
      </p:sp>
      <p:sp>
        <p:nvSpPr>
          <p:cNvPr id="23" name="TextBox 22"/>
          <p:cNvSpPr txBox="1"/>
          <p:nvPr/>
        </p:nvSpPr>
        <p:spPr>
          <a:xfrm>
            <a:off x="5440680" y="1755648"/>
            <a:ext cx="2743200" cy="228600"/>
          </a:xfrm>
          <a:prstGeom prst="rect">
            <a:avLst/>
          </a:prstGeom>
          <a:noFill/>
        </p:spPr>
        <p:txBody>
          <a:bodyPr wrap="square">
            <a:spAutoFit/>
          </a:bodyPr>
          <a:lstStyle/>
          <a:p>
            <a:pPr algn="l"/>
            <a:r>
              <a:rPr sz="800" b="1" i="0">
                <a:solidFill>
                  <a:srgbClr val="969698"/>
                </a:solidFill>
                <a:latin typeface="Calibri"/>
              </a:rPr>
              <a:t>BUILDING INFRASTRUCTURE</a:t>
            </a:r>
          </a:p>
        </p:txBody>
      </p:sp>
      <p:sp>
        <p:nvSpPr>
          <p:cNvPr id="24" name="Rectangle 23"/>
          <p:cNvSpPr/>
          <p:nvPr/>
        </p:nvSpPr>
        <p:spPr>
          <a:xfrm>
            <a:off x="5440680" y="2377440"/>
            <a:ext cx="1645920" cy="822960"/>
          </a:xfrm>
          <a:prstGeom prst="rect">
            <a:avLst/>
          </a:prstGeom>
          <a:solidFill>
            <a:srgbClr val="4C4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32120" y="2514600"/>
            <a:ext cx="1463040" cy="548640"/>
          </a:xfrm>
          <a:prstGeom prst="rect">
            <a:avLst/>
          </a:prstGeom>
          <a:noFill/>
        </p:spPr>
        <p:txBody>
          <a:bodyPr wrap="square">
            <a:spAutoFit/>
          </a:bodyPr>
          <a:lstStyle/>
          <a:p>
            <a:pPr algn="l"/>
            <a:r>
              <a:rPr sz="1200" b="1" i="0">
                <a:solidFill>
                  <a:srgbClr val="FFFFFF"/>
                </a:solidFill>
                <a:latin typeface="Calibri"/>
              </a:rPr>
              <a:t>USEFULL
Server</a:t>
            </a:r>
          </a:p>
        </p:txBody>
      </p:sp>
      <p:sp>
        <p:nvSpPr>
          <p:cNvPr id="26" name="Rectangle 25"/>
          <p:cNvSpPr/>
          <p:nvPr/>
        </p:nvSpPr>
        <p:spPr>
          <a:xfrm>
            <a:off x="5440680" y="3474720"/>
            <a:ext cx="1645920" cy="640080"/>
          </a:xfrm>
          <a:prstGeom prst="rect">
            <a:avLst/>
          </a:prstGeom>
          <a:solidFill>
            <a:srgbClr val="EDECE8"/>
          </a:solidFill>
          <a:ln w="12700">
            <a:solidFill>
              <a:srgbClr val="9696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532120" y="3639312"/>
            <a:ext cx="1463040" cy="365760"/>
          </a:xfrm>
          <a:prstGeom prst="rect">
            <a:avLst/>
          </a:prstGeom>
          <a:noFill/>
        </p:spPr>
        <p:txBody>
          <a:bodyPr wrap="square">
            <a:spAutoFit/>
          </a:bodyPr>
          <a:lstStyle/>
          <a:p>
            <a:pPr algn="l"/>
            <a:r>
              <a:rPr sz="1100" b="0" i="0">
                <a:solidFill>
                  <a:srgbClr val="4C4C4E"/>
                </a:solidFill>
                <a:latin typeface="Calibri"/>
              </a:rPr>
              <a:t>Facility power
(power in)</a:t>
            </a:r>
          </a:p>
        </p:txBody>
      </p:sp>
      <p:sp>
        <p:nvSpPr>
          <p:cNvPr id="28" name="Rectangle 27"/>
          <p:cNvSpPr/>
          <p:nvPr/>
        </p:nvSpPr>
        <p:spPr>
          <a:xfrm>
            <a:off x="502920" y="4709160"/>
            <a:ext cx="45720" cy="640080"/>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4709160"/>
            <a:ext cx="5318607" cy="640080"/>
          </a:xfrm>
          <a:prstGeom prst="rect">
            <a:avLst/>
          </a:prstGeom>
          <a:noFill/>
        </p:spPr>
        <p:txBody>
          <a:bodyPr wrap="square">
            <a:spAutoFit/>
          </a:bodyPr>
          <a:lstStyle/>
          <a:p>
            <a:pPr algn="l"/>
            <a:r>
              <a:rPr sz="1200" b="0" i="0">
                <a:solidFill>
                  <a:srgbClr val="4C4C4E"/>
                </a:solidFill>
                <a:latin typeface="Calibri"/>
              </a:rPr>
              <a:t>Wet zone: only optics. Cameras behind polycarbonate windows — no circuitry exposed to moisture.</a:t>
            </a:r>
          </a:p>
        </p:txBody>
      </p:sp>
      <p:sp>
        <p:nvSpPr>
          <p:cNvPr id="30" name="Rectangle 29"/>
          <p:cNvSpPr/>
          <p:nvPr/>
        </p:nvSpPr>
        <p:spPr>
          <a:xfrm>
            <a:off x="6233007" y="4709160"/>
            <a:ext cx="45720" cy="640080"/>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70167" y="4709160"/>
            <a:ext cx="5318607" cy="640080"/>
          </a:xfrm>
          <a:prstGeom prst="rect">
            <a:avLst/>
          </a:prstGeom>
          <a:noFill/>
        </p:spPr>
        <p:txBody>
          <a:bodyPr wrap="square">
            <a:spAutoFit/>
          </a:bodyPr>
          <a:lstStyle/>
          <a:p>
            <a:pPr algn="l"/>
            <a:r>
              <a:rPr sz="1200" b="0" i="0">
                <a:solidFill>
                  <a:srgbClr val="4C4C4E"/>
                </a:solidFill>
                <a:latin typeface="Calibri"/>
              </a:rPr>
              <a:t>Field-serviceable: swap compute node or USB hub without touching camera boards. Single Ethernet out, single power 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DECE8"/>
        </a:solidFill>
        <a:effectLst/>
      </p:bgPr>
    </p:bg>
    <p:spTree>
      <p:nvGrpSpPr>
        <p:cNvPr id="1" name=""/>
        <p:cNvGrpSpPr/>
        <p:nvPr/>
      </p:nvGrpSpPr>
      <p:grpSpPr/>
      <p:sp>
        <p:nvSpPr>
          <p:cNvPr id="2" name="TextBox 1"/>
          <p:cNvSpPr txBox="1"/>
          <p:nvPr/>
        </p:nvSpPr>
        <p:spPr>
          <a:xfrm>
            <a:off x="10911535" y="164592"/>
            <a:ext cx="1097280" cy="274320"/>
          </a:xfrm>
          <a:prstGeom prst="rect">
            <a:avLst/>
          </a:prstGeom>
          <a:noFill/>
        </p:spPr>
        <p:txBody>
          <a:bodyPr wrap="square">
            <a:spAutoFit/>
          </a:bodyPr>
          <a:lstStyle/>
          <a:p>
            <a:pPr algn="r"/>
            <a:r>
              <a:rPr sz="900" b="0" i="0">
                <a:solidFill>
                  <a:srgbClr val="969698"/>
                </a:solidFill>
                <a:latin typeface="Calibri"/>
              </a:rPr>
              <a:t>07 / 11</a:t>
            </a:r>
          </a:p>
        </p:txBody>
      </p:sp>
      <p:sp>
        <p:nvSpPr>
          <p:cNvPr id="3" name="TextBox 2"/>
          <p:cNvSpPr txBox="1"/>
          <p:nvPr/>
        </p:nvSpPr>
        <p:spPr>
          <a:xfrm>
            <a:off x="502920" y="1005840"/>
            <a:ext cx="11185855" cy="274320"/>
          </a:xfrm>
          <a:prstGeom prst="rect">
            <a:avLst/>
          </a:prstGeom>
          <a:noFill/>
        </p:spPr>
        <p:txBody>
          <a:bodyPr wrap="square">
            <a:spAutoFit/>
          </a:bodyPr>
          <a:lstStyle/>
          <a:p>
            <a:pPr algn="l"/>
            <a:r>
              <a:rPr sz="1000" b="1" i="0">
                <a:solidFill>
                  <a:srgbClr val="D69A2D"/>
                </a:solidFill>
                <a:latin typeface="Calibri"/>
              </a:rPr>
              <a:t>DESIGN CONSTRAINT</a:t>
            </a:r>
          </a:p>
        </p:txBody>
      </p:sp>
      <p:sp>
        <p:nvSpPr>
          <p:cNvPr id="4" name="TextBox 3"/>
          <p:cNvSpPr txBox="1"/>
          <p:nvPr/>
        </p:nvSpPr>
        <p:spPr>
          <a:xfrm>
            <a:off x="502920" y="1298448"/>
            <a:ext cx="11185855" cy="731520"/>
          </a:xfrm>
          <a:prstGeom prst="rect">
            <a:avLst/>
          </a:prstGeom>
          <a:noFill/>
        </p:spPr>
        <p:txBody>
          <a:bodyPr wrap="square">
            <a:spAutoFit/>
          </a:bodyPr>
          <a:lstStyle/>
          <a:p>
            <a:pPr algn="l"/>
            <a:r>
              <a:rPr sz="3000" b="0" i="0">
                <a:solidFill>
                  <a:srgbClr val="008C95"/>
                </a:solidFill>
                <a:latin typeface="Georgia"/>
              </a:rPr>
              <a:t>The Modularity Challenge</a:t>
            </a:r>
          </a:p>
        </p:txBody>
      </p:sp>
      <p:sp>
        <p:nvSpPr>
          <p:cNvPr id="5" name="TextBox 4"/>
          <p:cNvSpPr txBox="1"/>
          <p:nvPr/>
        </p:nvSpPr>
        <p:spPr>
          <a:xfrm>
            <a:off x="502920" y="1709928"/>
            <a:ext cx="5029200" cy="228600"/>
          </a:xfrm>
          <a:prstGeom prst="rect">
            <a:avLst/>
          </a:prstGeom>
          <a:noFill/>
        </p:spPr>
        <p:txBody>
          <a:bodyPr wrap="square">
            <a:spAutoFit/>
          </a:bodyPr>
          <a:lstStyle/>
          <a:p>
            <a:pPr algn="l"/>
            <a:r>
              <a:rPr sz="800" b="1" i="0">
                <a:solidFill>
                  <a:srgbClr val="008C95"/>
                </a:solidFill>
                <a:latin typeface="Calibri"/>
              </a:rPr>
              <a:t>USEFULL RETURN STATION CONCEPT</a:t>
            </a:r>
          </a:p>
        </p:txBody>
      </p:sp>
      <p:pic>
        <p:nvPicPr>
          <p:cNvPr id="6" name="Picture 5" descr="return-station-concept.png"/>
          <p:cNvPicPr>
            <a:picLocks noChangeAspect="1"/>
          </p:cNvPicPr>
          <p:nvPr/>
        </p:nvPicPr>
        <p:blipFill>
          <a:blip r:embed="rId2"/>
          <a:stretch>
            <a:fillRect/>
          </a:stretch>
        </p:blipFill>
        <p:spPr>
          <a:xfrm>
            <a:off x="502920" y="1965960"/>
            <a:ext cx="5029200" cy="4389120"/>
          </a:xfrm>
          <a:prstGeom prst="rect">
            <a:avLst/>
          </a:prstGeom>
        </p:spPr>
      </p:pic>
      <p:sp>
        <p:nvSpPr>
          <p:cNvPr id="7" name="TextBox 6"/>
          <p:cNvSpPr txBox="1"/>
          <p:nvPr/>
        </p:nvSpPr>
        <p:spPr>
          <a:xfrm>
            <a:off x="502920" y="6400800"/>
            <a:ext cx="5029200" cy="274320"/>
          </a:xfrm>
          <a:prstGeom prst="rect">
            <a:avLst/>
          </a:prstGeom>
          <a:noFill/>
        </p:spPr>
        <p:txBody>
          <a:bodyPr wrap="square">
            <a:spAutoFit/>
          </a:bodyPr>
          <a:lstStyle/>
          <a:p>
            <a:pPr algn="l"/>
            <a:r>
              <a:rPr sz="1000" b="0" i="1">
                <a:solidFill>
                  <a:srgbClr val="969698"/>
                </a:solidFill>
                <a:latin typeface="Calibri"/>
              </a:rPr>
              <a:t>14" slot, controlled geometry, designed for this system</a:t>
            </a:r>
          </a:p>
        </p:txBody>
      </p:sp>
      <p:sp>
        <p:nvSpPr>
          <p:cNvPr id="8" name="Rectangle 7"/>
          <p:cNvSpPr/>
          <p:nvPr/>
        </p:nvSpPr>
        <p:spPr>
          <a:xfrm>
            <a:off x="5897880" y="2075688"/>
            <a:ext cx="64008" cy="64008"/>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1965960"/>
            <a:ext cx="5608015" cy="640080"/>
          </a:xfrm>
          <a:prstGeom prst="rect">
            <a:avLst/>
          </a:prstGeom>
          <a:noFill/>
        </p:spPr>
        <p:txBody>
          <a:bodyPr wrap="square">
            <a:spAutoFit/>
          </a:bodyPr>
          <a:lstStyle/>
          <a:p>
            <a:pPr algn="l"/>
            <a:r>
              <a:rPr sz="1300" b="0" i="0">
                <a:solidFill>
                  <a:srgbClr val="4C4C4E"/>
                </a:solidFill>
                <a:latin typeface="Calibri"/>
              </a:rPr>
              <a:t>This concept was designed for USEFULL's own return station — a controlled, known geometry.</a:t>
            </a:r>
          </a:p>
        </p:txBody>
      </p:sp>
      <p:sp>
        <p:nvSpPr>
          <p:cNvPr id="10" name="Rectangle 9"/>
          <p:cNvSpPr/>
          <p:nvPr/>
        </p:nvSpPr>
        <p:spPr>
          <a:xfrm>
            <a:off x="5897880" y="2715768"/>
            <a:ext cx="64008" cy="64008"/>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60" y="2606040"/>
            <a:ext cx="5608015" cy="640080"/>
          </a:xfrm>
          <a:prstGeom prst="rect">
            <a:avLst/>
          </a:prstGeom>
          <a:noFill/>
        </p:spPr>
        <p:txBody>
          <a:bodyPr wrap="square">
            <a:spAutoFit/>
          </a:bodyPr>
          <a:lstStyle/>
          <a:p>
            <a:pPr algn="l"/>
            <a:r>
              <a:rPr sz="1300" b="0" i="0">
                <a:solidFill>
                  <a:srgbClr val="4C4C4E"/>
                </a:solidFill>
                <a:latin typeface="Calibri"/>
              </a:rPr>
              <a:t>NAU may want to use their existing bins. Different geometries, different slot sizes, different internals.</a:t>
            </a:r>
          </a:p>
        </p:txBody>
      </p:sp>
      <p:sp>
        <p:nvSpPr>
          <p:cNvPr id="12" name="Rectangle 11"/>
          <p:cNvSpPr/>
          <p:nvPr/>
        </p:nvSpPr>
        <p:spPr>
          <a:xfrm>
            <a:off x="5897880" y="3355848"/>
            <a:ext cx="64008" cy="64008"/>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80760" y="3246120"/>
            <a:ext cx="5608015" cy="640080"/>
          </a:xfrm>
          <a:prstGeom prst="rect">
            <a:avLst/>
          </a:prstGeom>
          <a:noFill/>
        </p:spPr>
        <p:txBody>
          <a:bodyPr wrap="square">
            <a:spAutoFit/>
          </a:bodyPr>
          <a:lstStyle/>
          <a:p>
            <a:pPr algn="l"/>
            <a:r>
              <a:rPr sz="1300" b="0" i="0">
                <a:solidFill>
                  <a:srgbClr val="4C4C4E"/>
                </a:solidFill>
                <a:latin typeface="Calibri"/>
              </a:rPr>
              <a:t>A fully modular "drop-in" system that works in any bin is significantly harder and more expensive.</a:t>
            </a:r>
          </a:p>
        </p:txBody>
      </p:sp>
      <p:sp>
        <p:nvSpPr>
          <p:cNvPr id="14" name="Rectangle 13"/>
          <p:cNvSpPr/>
          <p:nvPr/>
        </p:nvSpPr>
        <p:spPr>
          <a:xfrm>
            <a:off x="5897880" y="4160520"/>
            <a:ext cx="5790895" cy="1051560"/>
          </a:xfrm>
          <a:prstGeom prst="rect">
            <a:avLst/>
          </a:prstGeom>
          <a:solidFill>
            <a:srgbClr val="FFF6DC"/>
          </a:solidFill>
          <a:ln w="19050">
            <a:solidFill>
              <a:srgbClr val="D69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40" y="4270248"/>
            <a:ext cx="5516575" cy="274320"/>
          </a:xfrm>
          <a:prstGeom prst="rect">
            <a:avLst/>
          </a:prstGeom>
          <a:noFill/>
        </p:spPr>
        <p:txBody>
          <a:bodyPr wrap="square">
            <a:spAutoFit/>
          </a:bodyPr>
          <a:lstStyle/>
          <a:p>
            <a:pPr algn="l"/>
            <a:r>
              <a:rPr sz="900" b="1" i="0">
                <a:solidFill>
                  <a:srgbClr val="8A6000"/>
                </a:solidFill>
                <a:latin typeface="Calibri"/>
              </a:rPr>
              <a:t>RECOMMENDATION</a:t>
            </a:r>
          </a:p>
        </p:txBody>
      </p:sp>
      <p:sp>
        <p:nvSpPr>
          <p:cNvPr id="16" name="TextBox 15"/>
          <p:cNvSpPr txBox="1"/>
          <p:nvPr/>
        </p:nvSpPr>
        <p:spPr>
          <a:xfrm>
            <a:off x="6035040" y="4544568"/>
            <a:ext cx="5516575" cy="548640"/>
          </a:xfrm>
          <a:prstGeom prst="rect">
            <a:avLst/>
          </a:prstGeom>
          <a:noFill/>
        </p:spPr>
        <p:txBody>
          <a:bodyPr wrap="square">
            <a:spAutoFit/>
          </a:bodyPr>
          <a:lstStyle/>
          <a:p>
            <a:pPr algn="l"/>
            <a:r>
              <a:rPr sz="1300" b="0" i="0">
                <a:solidFill>
                  <a:srgbClr val="4C4C4E"/>
                </a:solidFill>
                <a:latin typeface="Calibri"/>
              </a:rPr>
              <a:t>Target one known bin design to prove the concept before attempting modularity.</a:t>
            </a:r>
          </a:p>
        </p:txBody>
      </p:sp>
      <p:sp>
        <p:nvSpPr>
          <p:cNvPr id="17" name="Rectangle 16"/>
          <p:cNvSpPr/>
          <p:nvPr/>
        </p:nvSpPr>
        <p:spPr>
          <a:xfrm>
            <a:off x="5897880" y="5394960"/>
            <a:ext cx="2666847" cy="457200"/>
          </a:xfrm>
          <a:prstGeom prst="rect">
            <a:avLst/>
          </a:prstGeom>
          <a:solidFill>
            <a:srgbClr val="DCF2F0"/>
          </a:solidFill>
          <a:ln w="12700">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97880" y="5486400"/>
            <a:ext cx="2666847" cy="320040"/>
          </a:xfrm>
          <a:prstGeom prst="rect">
            <a:avLst/>
          </a:prstGeom>
          <a:noFill/>
        </p:spPr>
        <p:txBody>
          <a:bodyPr wrap="square">
            <a:spAutoFit/>
          </a:bodyPr>
          <a:lstStyle/>
          <a:p>
            <a:pPr algn="ctr"/>
            <a:r>
              <a:rPr sz="1100" b="1" i="0">
                <a:solidFill>
                  <a:srgbClr val="008C95"/>
                </a:solidFill>
                <a:latin typeface="Calibri"/>
              </a:rPr>
              <a:t>Known geometry</a:t>
            </a:r>
          </a:p>
        </p:txBody>
      </p:sp>
      <p:sp>
        <p:nvSpPr>
          <p:cNvPr id="19" name="TextBox 18"/>
          <p:cNvSpPr txBox="1"/>
          <p:nvPr/>
        </p:nvSpPr>
        <p:spPr>
          <a:xfrm>
            <a:off x="8564727" y="5394960"/>
            <a:ext cx="457200" cy="457200"/>
          </a:xfrm>
          <a:prstGeom prst="rect">
            <a:avLst/>
          </a:prstGeom>
          <a:noFill/>
        </p:spPr>
        <p:txBody>
          <a:bodyPr wrap="square">
            <a:spAutoFit/>
          </a:bodyPr>
          <a:lstStyle/>
          <a:p>
            <a:pPr algn="ctr"/>
            <a:r>
              <a:rPr sz="1600" b="0" i="0">
                <a:solidFill>
                  <a:srgbClr val="969698"/>
                </a:solidFill>
                <a:latin typeface="Calibri"/>
              </a:rPr>
              <a:t>↔</a:t>
            </a:r>
          </a:p>
        </p:txBody>
      </p:sp>
      <p:sp>
        <p:nvSpPr>
          <p:cNvPr id="20" name="Rectangle 19"/>
          <p:cNvSpPr/>
          <p:nvPr/>
        </p:nvSpPr>
        <p:spPr>
          <a:xfrm>
            <a:off x="9021927" y="5394960"/>
            <a:ext cx="2666847" cy="457200"/>
          </a:xfrm>
          <a:prstGeom prst="rect">
            <a:avLst/>
          </a:prstGeom>
          <a:solidFill>
            <a:srgbClr val="EDECE8"/>
          </a:solidFill>
          <a:ln w="12700">
            <a:solidFill>
              <a:srgbClr val="9696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21927" y="5486400"/>
            <a:ext cx="2666847" cy="320040"/>
          </a:xfrm>
          <a:prstGeom prst="rect">
            <a:avLst/>
          </a:prstGeom>
          <a:noFill/>
        </p:spPr>
        <p:txBody>
          <a:bodyPr wrap="square">
            <a:spAutoFit/>
          </a:bodyPr>
          <a:lstStyle/>
          <a:p>
            <a:pPr algn="ctr"/>
            <a:r>
              <a:rPr sz="1100" b="1" i="0">
                <a:solidFill>
                  <a:srgbClr val="4C4C4E"/>
                </a:solidFill>
                <a:latin typeface="Calibri"/>
              </a:rPr>
              <a:t>Unknown bins</a:t>
            </a:r>
          </a:p>
        </p:txBody>
      </p:sp>
      <p:sp>
        <p:nvSpPr>
          <p:cNvPr id="22" name="TextBox 21"/>
          <p:cNvSpPr txBox="1"/>
          <p:nvPr/>
        </p:nvSpPr>
        <p:spPr>
          <a:xfrm>
            <a:off x="5897880" y="5897880"/>
            <a:ext cx="5790895" cy="228600"/>
          </a:xfrm>
          <a:prstGeom prst="rect">
            <a:avLst/>
          </a:prstGeom>
          <a:noFill/>
        </p:spPr>
        <p:txBody>
          <a:bodyPr wrap="square">
            <a:spAutoFit/>
          </a:bodyPr>
          <a:lstStyle/>
          <a:p>
            <a:pPr algn="ctr"/>
            <a:r>
              <a:rPr sz="1000" b="0" i="1">
                <a:solidFill>
                  <a:srgbClr val="969698"/>
                </a:solidFill>
                <a:latin typeface="Calibri"/>
              </a:rPr>
              <a:t>modularity gap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11535" y="164592"/>
            <a:ext cx="1097280" cy="274320"/>
          </a:xfrm>
          <a:prstGeom prst="rect">
            <a:avLst/>
          </a:prstGeom>
          <a:noFill/>
        </p:spPr>
        <p:txBody>
          <a:bodyPr wrap="square">
            <a:spAutoFit/>
          </a:bodyPr>
          <a:lstStyle/>
          <a:p>
            <a:pPr algn="r"/>
            <a:r>
              <a:rPr sz="900" b="0" i="0">
                <a:solidFill>
                  <a:srgbClr val="969698"/>
                </a:solidFill>
                <a:latin typeface="Calibri"/>
              </a:rPr>
              <a:t>08 / 11</a:t>
            </a:r>
          </a:p>
        </p:txBody>
      </p:sp>
      <p:sp>
        <p:nvSpPr>
          <p:cNvPr id="3" name="TextBox 2"/>
          <p:cNvSpPr txBox="1"/>
          <p:nvPr/>
        </p:nvSpPr>
        <p:spPr>
          <a:xfrm>
            <a:off x="502920" y="1005840"/>
            <a:ext cx="11185855" cy="274320"/>
          </a:xfrm>
          <a:prstGeom prst="rect">
            <a:avLst/>
          </a:prstGeom>
          <a:noFill/>
        </p:spPr>
        <p:txBody>
          <a:bodyPr wrap="square">
            <a:spAutoFit/>
          </a:bodyPr>
          <a:lstStyle/>
          <a:p>
            <a:pPr algn="l"/>
            <a:r>
              <a:rPr sz="1000" b="1" i="0">
                <a:solidFill>
                  <a:srgbClr val="D69A2D"/>
                </a:solidFill>
                <a:latin typeface="Calibri"/>
              </a:rPr>
              <a:t>BUDGET REALITY</a:t>
            </a:r>
          </a:p>
        </p:txBody>
      </p:sp>
      <p:sp>
        <p:nvSpPr>
          <p:cNvPr id="4" name="TextBox 3"/>
          <p:cNvSpPr txBox="1"/>
          <p:nvPr/>
        </p:nvSpPr>
        <p:spPr>
          <a:xfrm>
            <a:off x="502920" y="1298448"/>
            <a:ext cx="11185855" cy="731520"/>
          </a:xfrm>
          <a:prstGeom prst="rect">
            <a:avLst/>
          </a:prstGeom>
          <a:noFill/>
        </p:spPr>
        <p:txBody>
          <a:bodyPr wrap="square">
            <a:spAutoFit/>
          </a:bodyPr>
          <a:lstStyle/>
          <a:p>
            <a:pPr algn="l"/>
            <a:r>
              <a:rPr sz="3000" b="0" i="0">
                <a:solidFill>
                  <a:srgbClr val="008C95"/>
                </a:solidFill>
                <a:latin typeface="Georgia"/>
              </a:rPr>
              <a:t>What Would This Cost?</a:t>
            </a:r>
          </a:p>
        </p:txBody>
      </p:sp>
      <p:sp>
        <p:nvSpPr>
          <p:cNvPr id="5" name="Rectangle 4"/>
          <p:cNvSpPr/>
          <p:nvPr/>
        </p:nvSpPr>
        <p:spPr>
          <a:xfrm>
            <a:off x="502920" y="1965960"/>
            <a:ext cx="45720" cy="640080"/>
          </a:xfrm>
          <a:prstGeom prst="rect">
            <a:avLst/>
          </a:prstGeom>
          <a:solidFill>
            <a:srgbClr val="D69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965960"/>
            <a:ext cx="11048695" cy="640080"/>
          </a:xfrm>
          <a:prstGeom prst="rect">
            <a:avLst/>
          </a:prstGeom>
          <a:noFill/>
        </p:spPr>
        <p:txBody>
          <a:bodyPr wrap="square">
            <a:spAutoFit/>
          </a:bodyPr>
          <a:lstStyle/>
          <a:p>
            <a:pPr algn="l"/>
            <a:r>
              <a:rPr sz="1200" b="0" i="1">
                <a:solidFill>
                  <a:srgbClr val="4C4C4E"/>
                </a:solidFill>
                <a:latin typeface="Calibri"/>
              </a:rPr>
              <a:t>Joshua's initial estimate: $10k–$15k all-in for his work (4–5 months, ~60 days on-site). We're planning around ~$8k for his labor. This does NOT include hardware, fabrication, USEFULL software integration, or the dev workstation.</a:t>
            </a:r>
          </a:p>
        </p:txBody>
      </p:sp>
      <p:graphicFrame>
        <p:nvGraphicFramePr>
          <p:cNvPr id="7" name="Table 6"/>
          <p:cNvGraphicFramePr>
            <a:graphicFrameLocks noGrp="1"/>
          </p:cNvGraphicFramePr>
          <p:nvPr/>
        </p:nvGraphicFramePr>
        <p:xfrm>
          <a:off x="502920" y="2743200"/>
          <a:ext cx="10972800" cy="3200400"/>
        </p:xfrm>
        <a:graphic>
          <a:graphicData uri="http://schemas.openxmlformats.org/drawingml/2006/table">
            <a:tbl>
              <a:tblPr firstRow="1" bandRow="1">
                <a:tableStyleId>{5C22544A-7EE6-4342-B048-85BDC9FD1C3A}</a:tableStyleId>
              </a:tblPr>
              <a:tblGrid>
                <a:gridCol w="6583680"/>
                <a:gridCol w="2011680"/>
                <a:gridCol w="2377440"/>
              </a:tblGrid>
              <a:tr h="457200">
                <a:tc>
                  <a:txBody>
                    <a:bodyPr/>
                    <a:lstStyle/>
                    <a:p>
                      <a:pPr algn="l"/>
                      <a:r>
                        <a:rPr sz="1100" b="1">
                          <a:solidFill>
                            <a:srgbClr val="FFFFFF"/>
                          </a:solidFill>
                          <a:latin typeface="Calibri"/>
                        </a:rPr>
                        <a:t>Category</a:t>
                      </a:r>
                    </a:p>
                  </a:txBody>
                  <a:tcPr>
                    <a:solidFill>
                      <a:srgbClr val="008C95"/>
                    </a:solidFill>
                  </a:tcPr>
                </a:tc>
                <a:tc>
                  <a:txBody>
                    <a:bodyPr/>
                    <a:lstStyle/>
                    <a:p>
                      <a:pPr algn="r"/>
                      <a:r>
                        <a:rPr sz="1100" b="1">
                          <a:solidFill>
                            <a:srgbClr val="FFFFFF"/>
                          </a:solidFill>
                          <a:latin typeface="Calibri"/>
                        </a:rPr>
                        <a:t>2-Bin Pilot</a:t>
                      </a:r>
                    </a:p>
                  </a:txBody>
                  <a:tcPr>
                    <a:solidFill>
                      <a:srgbClr val="008C95"/>
                    </a:solidFill>
                  </a:tcPr>
                </a:tc>
                <a:tc>
                  <a:txBody>
                    <a:bodyPr/>
                    <a:lstStyle/>
                    <a:p>
                      <a:pPr algn="r"/>
                      <a:r>
                        <a:rPr sz="1100" b="1">
                          <a:solidFill>
                            <a:srgbClr val="FFFFFF"/>
                          </a:solidFill>
                          <a:latin typeface="Calibri"/>
                        </a:rPr>
                        <a:t>9-Bin Full Rollout</a:t>
                      </a:r>
                    </a:p>
                  </a:txBody>
                  <a:tcPr>
                    <a:solidFill>
                      <a:srgbClr val="008C95"/>
                    </a:solidFill>
                  </a:tcPr>
                </a:tc>
              </a:tr>
              <a:tr h="457200">
                <a:tc>
                  <a:txBody>
                    <a:bodyPr/>
                    <a:lstStyle/>
                    <a:p>
                      <a:pPr algn="l"/>
                      <a:r>
                        <a:rPr sz="1200" b="0">
                          <a:solidFill>
                            <a:srgbClr val="4C4C4E"/>
                          </a:solidFill>
                          <a:latin typeface="Calibri"/>
                        </a:rPr>
                        <a:t>Hardware + installation</a:t>
                      </a:r>
                    </a:p>
                  </a:txBody>
                  <a:tcPr>
                    <a:solidFill>
                      <a:srgbClr val="FFFFFF"/>
                    </a:solidFill>
                  </a:tcPr>
                </a:tc>
                <a:tc>
                  <a:txBody>
                    <a:bodyPr/>
                    <a:lstStyle/>
                    <a:p>
                      <a:pPr algn="r"/>
                      <a:r>
                        <a:rPr sz="1200" b="0">
                          <a:solidFill>
                            <a:srgbClr val="4C4C4E"/>
                          </a:solidFill>
                          <a:latin typeface="Calibri"/>
                        </a:rPr>
                        <a:t>$3.5k – $6.1k</a:t>
                      </a:r>
                    </a:p>
                  </a:txBody>
                  <a:tcPr>
                    <a:solidFill>
                      <a:srgbClr val="FFFFFF"/>
                    </a:solidFill>
                  </a:tcPr>
                </a:tc>
                <a:tc>
                  <a:txBody>
                    <a:bodyPr/>
                    <a:lstStyle/>
                    <a:p>
                      <a:pPr algn="r"/>
                      <a:r>
                        <a:rPr sz="1200" b="0">
                          <a:solidFill>
                            <a:srgbClr val="4C4C4E"/>
                          </a:solidFill>
                          <a:latin typeface="Calibri"/>
                        </a:rPr>
                        <a:t>$15.7k – $27.4k</a:t>
                      </a:r>
                    </a:p>
                  </a:txBody>
                  <a:tcPr>
                    <a:solidFill>
                      <a:srgbClr val="FFFFFF"/>
                    </a:solidFill>
                  </a:tcPr>
                </a:tc>
              </a:tr>
              <a:tr h="457200">
                <a:tc>
                  <a:txBody>
                    <a:bodyPr/>
                    <a:lstStyle/>
                    <a:p>
                      <a:pPr algn="l"/>
                      <a:r>
                        <a:rPr sz="1200" b="0">
                          <a:solidFill>
                            <a:srgbClr val="4C4C4E"/>
                          </a:solidFill>
                          <a:latin typeface="Calibri"/>
                        </a:rPr>
                        <a:t>Housing / rail design + fabrication</a:t>
                      </a:r>
                    </a:p>
                  </a:txBody>
                  <a:tcPr>
                    <a:solidFill>
                      <a:srgbClr val="FAFAFA"/>
                    </a:solidFill>
                  </a:tcPr>
                </a:tc>
                <a:tc>
                  <a:txBody>
                    <a:bodyPr/>
                    <a:lstStyle/>
                    <a:p>
                      <a:pPr algn="r"/>
                      <a:r>
                        <a:rPr sz="1200" b="0">
                          <a:solidFill>
                            <a:srgbClr val="4C4C4E"/>
                          </a:solidFill>
                          <a:latin typeface="Calibri"/>
                        </a:rPr>
                        <a:t>$6k – $15k</a:t>
                      </a:r>
                    </a:p>
                  </a:txBody>
                  <a:tcPr>
                    <a:solidFill>
                      <a:srgbClr val="FAFAFA"/>
                    </a:solidFill>
                  </a:tcPr>
                </a:tc>
                <a:tc>
                  <a:txBody>
                    <a:bodyPr/>
                    <a:lstStyle/>
                    <a:p>
                      <a:pPr algn="r"/>
                      <a:r>
                        <a:rPr sz="1200" b="0">
                          <a:solidFill>
                            <a:srgbClr val="4C4C4E"/>
                          </a:solidFill>
                          <a:latin typeface="Calibri"/>
                        </a:rPr>
                        <a:t>$6k – $15k</a:t>
                      </a:r>
                    </a:p>
                  </a:txBody>
                  <a:tcPr>
                    <a:solidFill>
                      <a:srgbClr val="FAFAFA"/>
                    </a:solidFill>
                  </a:tcPr>
                </a:tc>
              </a:tr>
              <a:tr h="457200">
                <a:tc>
                  <a:txBody>
                    <a:bodyPr/>
                    <a:lstStyle/>
                    <a:p>
                      <a:pPr algn="l"/>
                      <a:r>
                        <a:rPr sz="1200" b="0">
                          <a:solidFill>
                            <a:srgbClr val="4C4C4E"/>
                          </a:solidFill>
                          <a:latin typeface="Calibri"/>
                        </a:rPr>
                        <a:t>Dev workstation</a:t>
                      </a:r>
                    </a:p>
                  </a:txBody>
                  <a:tcPr>
                    <a:solidFill>
                      <a:srgbClr val="FFFFFF"/>
                    </a:solidFill>
                  </a:tcPr>
                </a:tc>
                <a:tc>
                  <a:txBody>
                    <a:bodyPr/>
                    <a:lstStyle/>
                    <a:p>
                      <a:pPr algn="r"/>
                      <a:r>
                        <a:rPr sz="1200" b="0">
                          <a:solidFill>
                            <a:srgbClr val="4C4C4E"/>
                          </a:solidFill>
                          <a:latin typeface="Calibri"/>
                        </a:rPr>
                        <a:t>$2.5k – $4k</a:t>
                      </a:r>
                    </a:p>
                  </a:txBody>
                  <a:tcPr>
                    <a:solidFill>
                      <a:srgbClr val="FFFFFF"/>
                    </a:solidFill>
                  </a:tcPr>
                </a:tc>
                <a:tc>
                  <a:txBody>
                    <a:bodyPr/>
                    <a:lstStyle/>
                    <a:p>
                      <a:pPr algn="r"/>
                      <a:r>
                        <a:rPr sz="1200" b="0">
                          <a:solidFill>
                            <a:srgbClr val="4C4C4E"/>
                          </a:solidFill>
                          <a:latin typeface="Calibri"/>
                        </a:rPr>
                        <a:t>$2.5k – $4k</a:t>
                      </a:r>
                    </a:p>
                  </a:txBody>
                  <a:tcPr>
                    <a:solidFill>
                      <a:srgbClr val="FFFFFF"/>
                    </a:solidFill>
                  </a:tcPr>
                </a:tc>
              </a:tr>
              <a:tr h="457200">
                <a:tc>
                  <a:txBody>
                    <a:bodyPr/>
                    <a:lstStyle/>
                    <a:p>
                      <a:pPr algn="l"/>
                      <a:r>
                        <a:rPr sz="1200" b="0">
                          <a:solidFill>
                            <a:srgbClr val="4C4C4E"/>
                          </a:solidFill>
                          <a:latin typeface="Calibri"/>
                        </a:rPr>
                        <a:t>USEFULL software integration (Nadia + Yulia)</a:t>
                      </a:r>
                    </a:p>
                  </a:txBody>
                  <a:tcPr>
                    <a:solidFill>
                      <a:srgbClr val="FAFAFA"/>
                    </a:solidFill>
                  </a:tcPr>
                </a:tc>
                <a:tc>
                  <a:txBody>
                    <a:bodyPr/>
                    <a:lstStyle/>
                    <a:p>
                      <a:pPr algn="r"/>
                      <a:r>
                        <a:rPr sz="1200" b="0">
                          <a:solidFill>
                            <a:srgbClr val="4C4C4E"/>
                          </a:solidFill>
                          <a:latin typeface="Calibri"/>
                        </a:rPr>
                        <a:t>$15k – $27k</a:t>
                      </a:r>
                    </a:p>
                  </a:txBody>
                  <a:tcPr>
                    <a:solidFill>
                      <a:srgbClr val="FAFAFA"/>
                    </a:solidFill>
                  </a:tcPr>
                </a:tc>
                <a:tc>
                  <a:txBody>
                    <a:bodyPr/>
                    <a:lstStyle/>
                    <a:p>
                      <a:pPr algn="r"/>
                      <a:r>
                        <a:rPr sz="1200" b="0">
                          <a:solidFill>
                            <a:srgbClr val="4C4C4E"/>
                          </a:solidFill>
                          <a:latin typeface="Calibri"/>
                        </a:rPr>
                        <a:t>$15k – $27k</a:t>
                      </a:r>
                    </a:p>
                  </a:txBody>
                  <a:tcPr>
                    <a:solidFill>
                      <a:srgbClr val="FAFAFA"/>
                    </a:solidFill>
                  </a:tcPr>
                </a:tc>
              </a:tr>
              <a:tr h="457200">
                <a:tc>
                  <a:txBody>
                    <a:bodyPr/>
                    <a:lstStyle/>
                    <a:p>
                      <a:pPr algn="l"/>
                      <a:r>
                        <a:rPr sz="1200" b="0">
                          <a:solidFill>
                            <a:srgbClr val="4C4C4E"/>
                          </a:solidFill>
                          <a:latin typeface="Calibri"/>
                        </a:rPr>
                        <a:t>Consultant labor (Joshua)</a:t>
                      </a:r>
                    </a:p>
                  </a:txBody>
                  <a:tcPr>
                    <a:solidFill>
                      <a:srgbClr val="FFFFFF"/>
                    </a:solidFill>
                  </a:tcPr>
                </a:tc>
                <a:tc>
                  <a:txBody>
                    <a:bodyPr/>
                    <a:lstStyle/>
                    <a:p>
                      <a:pPr algn="r"/>
                      <a:r>
                        <a:rPr sz="1200" b="0">
                          <a:solidFill>
                            <a:srgbClr val="4C4C4E"/>
                          </a:solidFill>
                          <a:latin typeface="Calibri"/>
                        </a:rPr>
                        <a:t>~$8k</a:t>
                      </a:r>
                    </a:p>
                  </a:txBody>
                  <a:tcPr>
                    <a:solidFill>
                      <a:srgbClr val="FFFFFF"/>
                    </a:solidFill>
                  </a:tcPr>
                </a:tc>
                <a:tc>
                  <a:txBody>
                    <a:bodyPr/>
                    <a:lstStyle/>
                    <a:p>
                      <a:pPr algn="r"/>
                      <a:r>
                        <a:rPr sz="1200" b="0">
                          <a:solidFill>
                            <a:srgbClr val="4C4C4E"/>
                          </a:solidFill>
                          <a:latin typeface="Calibri"/>
                        </a:rPr>
                        <a:t>~$8k</a:t>
                      </a:r>
                    </a:p>
                  </a:txBody>
                  <a:tcPr>
                    <a:solidFill>
                      <a:srgbClr val="FFFFFF"/>
                    </a:solidFill>
                  </a:tcPr>
                </a:tc>
              </a:tr>
              <a:tr h="457200">
                <a:tc>
                  <a:txBody>
                    <a:bodyPr/>
                    <a:lstStyle/>
                    <a:p>
                      <a:pPr algn="l"/>
                      <a:r>
                        <a:rPr sz="1200" b="1">
                          <a:solidFill>
                            <a:srgbClr val="006B72"/>
                          </a:solidFill>
                          <a:latin typeface="Calibri"/>
                        </a:rPr>
                        <a:t>All-in with 20% contingency</a:t>
                      </a:r>
                    </a:p>
                  </a:txBody>
                  <a:tcPr>
                    <a:solidFill>
                      <a:srgbClr val="DCF2F0"/>
                    </a:solidFill>
                  </a:tcPr>
                </a:tc>
                <a:tc>
                  <a:txBody>
                    <a:bodyPr/>
                    <a:lstStyle/>
                    <a:p>
                      <a:pPr algn="r"/>
                      <a:r>
                        <a:rPr sz="1200" b="1">
                          <a:solidFill>
                            <a:srgbClr val="006B72"/>
                          </a:solidFill>
                          <a:latin typeface="Calibri"/>
                        </a:rPr>
                        <a:t>~$36k – $65k</a:t>
                      </a:r>
                    </a:p>
                  </a:txBody>
                  <a:tcPr>
                    <a:solidFill>
                      <a:srgbClr val="DCF2F0"/>
                    </a:solidFill>
                  </a:tcPr>
                </a:tc>
                <a:tc>
                  <a:txBody>
                    <a:bodyPr/>
                    <a:lstStyle/>
                    <a:p>
                      <a:pPr algn="r"/>
                      <a:r>
                        <a:rPr sz="1200" b="1">
                          <a:solidFill>
                            <a:srgbClr val="006B72"/>
                          </a:solidFill>
                          <a:latin typeface="Calibri"/>
                        </a:rPr>
                        <a:t>~$50k – $89k</a:t>
                      </a:r>
                    </a:p>
                  </a:txBody>
                  <a:tcPr>
                    <a:solidFill>
                      <a:srgbClr val="DCF2F0"/>
                    </a:solidFill>
                  </a:tcPr>
                </a:tc>
              </a:tr>
            </a:tbl>
          </a:graphicData>
        </a:graphic>
      </p:graphicFrame>
      <p:sp>
        <p:nvSpPr>
          <p:cNvPr id="8" name="TextBox 7"/>
          <p:cNvSpPr txBox="1"/>
          <p:nvPr/>
        </p:nvSpPr>
        <p:spPr>
          <a:xfrm>
            <a:off x="502920" y="6080760"/>
            <a:ext cx="11185855" cy="365760"/>
          </a:xfrm>
          <a:prstGeom prst="rect">
            <a:avLst/>
          </a:prstGeom>
          <a:noFill/>
        </p:spPr>
        <p:txBody>
          <a:bodyPr wrap="square">
            <a:spAutoFit/>
          </a:bodyPr>
          <a:lstStyle/>
          <a:p>
            <a:pPr algn="l"/>
            <a:r>
              <a:rPr sz="1000" b="0" i="1">
                <a:solidFill>
                  <a:srgbClr val="969698"/>
                </a:solidFill>
                <a:latin typeface="Calibri"/>
              </a:rPr>
              <a:t>Camera electronics (~$400/bin) are not the expensive part. Software integration, packaging, and iteration are. Recurring cloud/inference: est. $500–$1,200/month if hosted inference is used later.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DDF0EE"/>
        </a:solidFill>
        <a:effectLst/>
      </p:bgPr>
    </p:bg>
    <p:spTree>
      <p:nvGrpSpPr>
        <p:cNvPr id="1" name=""/>
        <p:cNvGrpSpPr/>
        <p:nvPr/>
      </p:nvGrpSpPr>
      <p:grpSpPr/>
      <p:sp>
        <p:nvSpPr>
          <p:cNvPr id="2" name="TextBox 1"/>
          <p:cNvSpPr txBox="1"/>
          <p:nvPr/>
        </p:nvSpPr>
        <p:spPr>
          <a:xfrm>
            <a:off x="10911535" y="164592"/>
            <a:ext cx="1097280" cy="274320"/>
          </a:xfrm>
          <a:prstGeom prst="rect">
            <a:avLst/>
          </a:prstGeom>
          <a:noFill/>
        </p:spPr>
        <p:txBody>
          <a:bodyPr wrap="square">
            <a:spAutoFit/>
          </a:bodyPr>
          <a:lstStyle/>
          <a:p>
            <a:pPr algn="r"/>
            <a:r>
              <a:rPr sz="900" b="0" i="0">
                <a:solidFill>
                  <a:srgbClr val="969698"/>
                </a:solidFill>
                <a:latin typeface="Calibri"/>
              </a:rPr>
              <a:t>09 / 11</a:t>
            </a:r>
          </a:p>
        </p:txBody>
      </p:sp>
      <p:sp>
        <p:nvSpPr>
          <p:cNvPr id="3" name="TextBox 2"/>
          <p:cNvSpPr txBox="1"/>
          <p:nvPr/>
        </p:nvSpPr>
        <p:spPr>
          <a:xfrm>
            <a:off x="502920" y="1005840"/>
            <a:ext cx="11185855" cy="274320"/>
          </a:xfrm>
          <a:prstGeom prst="rect">
            <a:avLst/>
          </a:prstGeom>
          <a:noFill/>
        </p:spPr>
        <p:txBody>
          <a:bodyPr wrap="square">
            <a:spAutoFit/>
          </a:bodyPr>
          <a:lstStyle/>
          <a:p>
            <a:pPr algn="l"/>
            <a:r>
              <a:rPr sz="1000" b="1" i="0">
                <a:solidFill>
                  <a:srgbClr val="D69A2D"/>
                </a:solidFill>
                <a:latin typeface="Calibri"/>
              </a:rPr>
              <a:t>THE HIDDEN BULK</a:t>
            </a:r>
          </a:p>
        </p:txBody>
      </p:sp>
      <p:sp>
        <p:nvSpPr>
          <p:cNvPr id="4" name="TextBox 3"/>
          <p:cNvSpPr txBox="1"/>
          <p:nvPr/>
        </p:nvSpPr>
        <p:spPr>
          <a:xfrm>
            <a:off x="502920" y="1298448"/>
            <a:ext cx="11185855" cy="731520"/>
          </a:xfrm>
          <a:prstGeom prst="rect">
            <a:avLst/>
          </a:prstGeom>
          <a:noFill/>
        </p:spPr>
        <p:txBody>
          <a:bodyPr wrap="square">
            <a:spAutoFit/>
          </a:bodyPr>
          <a:lstStyle/>
          <a:p>
            <a:pPr algn="l"/>
            <a:r>
              <a:rPr sz="2800" b="0" i="0">
                <a:solidFill>
                  <a:srgbClr val="008C95"/>
                </a:solidFill>
                <a:latin typeface="Georgia"/>
              </a:rPr>
              <a:t>USEFULL Software Integration — The Largest Cost</a:t>
            </a:r>
          </a:p>
        </p:txBody>
      </p:sp>
      <p:sp>
        <p:nvSpPr>
          <p:cNvPr id="5" name="TextBox 4"/>
          <p:cNvSpPr txBox="1"/>
          <p:nvPr/>
        </p:nvSpPr>
        <p:spPr>
          <a:xfrm>
            <a:off x="502920" y="1920240"/>
            <a:ext cx="11185855" cy="320040"/>
          </a:xfrm>
          <a:prstGeom prst="rect">
            <a:avLst/>
          </a:prstGeom>
          <a:noFill/>
        </p:spPr>
        <p:txBody>
          <a:bodyPr wrap="square">
            <a:spAutoFit/>
          </a:bodyPr>
          <a:lstStyle/>
          <a:p>
            <a:pPr algn="l"/>
            <a:r>
              <a:rPr sz="1300" b="0" i="1">
                <a:solidFill>
                  <a:srgbClr val="969698"/>
                </a:solidFill>
                <a:latin typeface="Calibri"/>
              </a:rPr>
              <a:t>Even if the camera system works perfectly, significant dev effort is still required to make it operationally useful.</a:t>
            </a:r>
          </a:p>
        </p:txBody>
      </p:sp>
      <p:graphicFrame>
        <p:nvGraphicFramePr>
          <p:cNvPr id="6" name="Table 5"/>
          <p:cNvGraphicFramePr>
            <a:graphicFrameLocks noGrp="1"/>
          </p:cNvGraphicFramePr>
          <p:nvPr/>
        </p:nvGraphicFramePr>
        <p:xfrm>
          <a:off x="502920" y="2377440"/>
          <a:ext cx="6400800" cy="3840480"/>
        </p:xfrm>
        <a:graphic>
          <a:graphicData uri="http://schemas.openxmlformats.org/drawingml/2006/table">
            <a:tbl>
              <a:tblPr firstRow="1" bandRow="1">
                <a:tableStyleId>{5C22544A-7EE6-4342-B048-85BDC9FD1C3A}</a:tableStyleId>
              </a:tblPr>
              <a:tblGrid>
                <a:gridCol w="5303520"/>
                <a:gridCol w="1097280"/>
              </a:tblGrid>
              <a:tr h="349134">
                <a:tc>
                  <a:txBody>
                    <a:bodyPr/>
                    <a:lstStyle/>
                    <a:p>
                      <a:pPr algn="l"/>
                      <a:r>
                        <a:rPr sz="1100" b="1">
                          <a:solidFill>
                            <a:srgbClr val="FFFFFF"/>
                          </a:solidFill>
                          <a:latin typeface="Calibri"/>
                        </a:rPr>
                        <a:t>Work Package (Nadia)</a:t>
                      </a:r>
                    </a:p>
                  </a:txBody>
                  <a:tcPr>
                    <a:solidFill>
                      <a:srgbClr val="008C95"/>
                    </a:solidFill>
                  </a:tcPr>
                </a:tc>
                <a:tc>
                  <a:txBody>
                    <a:bodyPr/>
                    <a:lstStyle/>
                    <a:p>
                      <a:pPr algn="r"/>
                      <a:r>
                        <a:rPr sz="1100" b="1">
                          <a:solidFill>
                            <a:srgbClr val="FFFFFF"/>
                          </a:solidFill>
                          <a:latin typeface="Calibri"/>
                        </a:rPr>
                        <a:t>Hours</a:t>
                      </a:r>
                    </a:p>
                  </a:txBody>
                  <a:tcPr>
                    <a:solidFill>
                      <a:srgbClr val="008C95"/>
                    </a:solidFill>
                  </a:tcPr>
                </a:tc>
              </a:tr>
              <a:tr h="349134">
                <a:tc>
                  <a:txBody>
                    <a:bodyPr/>
                    <a:lstStyle/>
                    <a:p>
                      <a:pPr algn="l"/>
                      <a:r>
                        <a:rPr sz="1100" b="0">
                          <a:solidFill>
                            <a:srgbClr val="4C4C4E"/>
                          </a:solidFill>
                          <a:latin typeface="Calibri"/>
                        </a:rPr>
                        <a:t>Integration design + interface definition</a:t>
                      </a:r>
                    </a:p>
                  </a:txBody>
                  <a:tcPr>
                    <a:solidFill>
                      <a:srgbClr val="FFFFFF"/>
                    </a:solidFill>
                  </a:tcPr>
                </a:tc>
                <a:tc>
                  <a:txBody>
                    <a:bodyPr/>
                    <a:lstStyle/>
                    <a:p>
                      <a:pPr algn="r"/>
                      <a:r>
                        <a:rPr sz="1100" b="0">
                          <a:solidFill>
                            <a:srgbClr val="4C4C4E"/>
                          </a:solidFill>
                          <a:latin typeface="Calibri"/>
                        </a:rPr>
                        <a:t>10–18</a:t>
                      </a:r>
                    </a:p>
                  </a:txBody>
                  <a:tcPr>
                    <a:solidFill>
                      <a:srgbClr val="FFFFFF"/>
                    </a:solidFill>
                  </a:tcPr>
                </a:tc>
              </a:tr>
              <a:tr h="349134">
                <a:tc>
                  <a:txBody>
                    <a:bodyPr/>
                    <a:lstStyle/>
                    <a:p>
                      <a:pPr algn="l"/>
                      <a:r>
                        <a:rPr sz="1100" b="0">
                          <a:solidFill>
                            <a:srgbClr val="4C4C4E"/>
                          </a:solidFill>
                          <a:latin typeface="Calibri"/>
                        </a:rPr>
                        <a:t>Event ingestion pipeline</a:t>
                      </a:r>
                    </a:p>
                  </a:txBody>
                  <a:tcPr>
                    <a:solidFill>
                      <a:srgbClr val="F8FCFB"/>
                    </a:solidFill>
                  </a:tcPr>
                </a:tc>
                <a:tc>
                  <a:txBody>
                    <a:bodyPr/>
                    <a:lstStyle/>
                    <a:p>
                      <a:pPr algn="r"/>
                      <a:r>
                        <a:rPr sz="1100" b="0">
                          <a:solidFill>
                            <a:srgbClr val="4C4C4E"/>
                          </a:solidFill>
                          <a:latin typeface="Calibri"/>
                        </a:rPr>
                        <a:t>14–25</a:t>
                      </a:r>
                    </a:p>
                  </a:txBody>
                  <a:tcPr>
                    <a:solidFill>
                      <a:srgbClr val="F8FCFB"/>
                    </a:solidFill>
                  </a:tcPr>
                </a:tc>
              </a:tr>
              <a:tr h="349134">
                <a:tc>
                  <a:txBody>
                    <a:bodyPr/>
                    <a:lstStyle/>
                    <a:p>
                      <a:pPr algn="l"/>
                      <a:r>
                        <a:rPr sz="1100" b="0">
                          <a:solidFill>
                            <a:srgbClr val="4C4C4E"/>
                          </a:solidFill>
                          <a:latin typeface="Calibri"/>
                        </a:rPr>
                        <a:t>DB / schema work</a:t>
                      </a:r>
                    </a:p>
                  </a:txBody>
                  <a:tcPr>
                    <a:solidFill>
                      <a:srgbClr val="FFFFFF"/>
                    </a:solidFill>
                  </a:tcPr>
                </a:tc>
                <a:tc>
                  <a:txBody>
                    <a:bodyPr/>
                    <a:lstStyle/>
                    <a:p>
                      <a:pPr algn="r"/>
                      <a:r>
                        <a:rPr sz="1100" b="0">
                          <a:solidFill>
                            <a:srgbClr val="4C4C4E"/>
                          </a:solidFill>
                          <a:latin typeface="Calibri"/>
                        </a:rPr>
                        <a:t>8–17</a:t>
                      </a:r>
                    </a:p>
                  </a:txBody>
                  <a:tcPr>
                    <a:solidFill>
                      <a:srgbClr val="FFFFFF"/>
                    </a:solidFill>
                  </a:tcPr>
                </a:tc>
              </a:tr>
              <a:tr h="349134">
                <a:tc>
                  <a:txBody>
                    <a:bodyPr/>
                    <a:lstStyle/>
                    <a:p>
                      <a:pPr algn="l"/>
                      <a:r>
                        <a:rPr sz="1100" b="0">
                          <a:solidFill>
                            <a:srgbClr val="4C4C4E"/>
                          </a:solidFill>
                          <a:latin typeface="Calibri"/>
                        </a:rPr>
                        <a:t>Scan ↔ return matching logic (hardest)</a:t>
                      </a:r>
                    </a:p>
                  </a:txBody>
                  <a:tcPr>
                    <a:solidFill>
                      <a:srgbClr val="F8FCFB"/>
                    </a:solidFill>
                  </a:tcPr>
                </a:tc>
                <a:tc>
                  <a:txBody>
                    <a:bodyPr/>
                    <a:lstStyle/>
                    <a:p>
                      <a:pPr algn="r"/>
                      <a:r>
                        <a:rPr sz="1100" b="0">
                          <a:solidFill>
                            <a:srgbClr val="4C4C4E"/>
                          </a:solidFill>
                          <a:latin typeface="Calibri"/>
                        </a:rPr>
                        <a:t>28–49</a:t>
                      </a:r>
                    </a:p>
                  </a:txBody>
                  <a:tcPr>
                    <a:solidFill>
                      <a:srgbClr val="F8FCFB"/>
                    </a:solidFill>
                  </a:tcPr>
                </a:tc>
              </a:tr>
              <a:tr h="349134">
                <a:tc>
                  <a:txBody>
                    <a:bodyPr/>
                    <a:lstStyle/>
                    <a:p>
                      <a:pPr algn="l"/>
                      <a:r>
                        <a:rPr sz="1100" b="0">
                          <a:solidFill>
                            <a:srgbClr val="4C4C4E"/>
                          </a:solidFill>
                          <a:latin typeface="Calibri"/>
                        </a:rPr>
                        <a:t>"Scanned but not dropped" workflows</a:t>
                      </a:r>
                    </a:p>
                  </a:txBody>
                  <a:tcPr>
                    <a:solidFill>
                      <a:srgbClr val="FFFFFF"/>
                    </a:solidFill>
                  </a:tcPr>
                </a:tc>
                <a:tc>
                  <a:txBody>
                    <a:bodyPr/>
                    <a:lstStyle/>
                    <a:p>
                      <a:pPr algn="r"/>
                      <a:r>
                        <a:rPr sz="1100" b="0">
                          <a:solidFill>
                            <a:srgbClr val="4C4C4E"/>
                          </a:solidFill>
                          <a:latin typeface="Calibri"/>
                        </a:rPr>
                        <a:t>18–35</a:t>
                      </a:r>
                    </a:p>
                  </a:txBody>
                  <a:tcPr>
                    <a:solidFill>
                      <a:srgbClr val="FFFFFF"/>
                    </a:solidFill>
                  </a:tcPr>
                </a:tc>
              </a:tr>
              <a:tr h="349134">
                <a:tc>
                  <a:txBody>
                    <a:bodyPr/>
                    <a:lstStyle/>
                    <a:p>
                      <a:pPr algn="l"/>
                      <a:r>
                        <a:rPr sz="1100" b="0">
                          <a:solidFill>
                            <a:srgbClr val="4C4C4E"/>
                          </a:solidFill>
                          <a:latin typeface="Calibri"/>
                        </a:rPr>
                        <a:t>Ops / support tooling</a:t>
                      </a:r>
                    </a:p>
                  </a:txBody>
                  <a:tcPr>
                    <a:solidFill>
                      <a:srgbClr val="F8FCFB"/>
                    </a:solidFill>
                  </a:tcPr>
                </a:tc>
                <a:tc>
                  <a:txBody>
                    <a:bodyPr/>
                    <a:lstStyle/>
                    <a:p>
                      <a:pPr algn="r"/>
                      <a:r>
                        <a:rPr sz="1100" b="0">
                          <a:solidFill>
                            <a:srgbClr val="4C4C4E"/>
                          </a:solidFill>
                          <a:latin typeface="Calibri"/>
                        </a:rPr>
                        <a:t>14–28</a:t>
                      </a:r>
                    </a:p>
                  </a:txBody>
                  <a:tcPr>
                    <a:solidFill>
                      <a:srgbClr val="F8FCFB"/>
                    </a:solidFill>
                  </a:tcPr>
                </a:tc>
              </a:tr>
              <a:tr h="349134">
                <a:tc>
                  <a:txBody>
                    <a:bodyPr/>
                    <a:lstStyle/>
                    <a:p>
                      <a:pPr algn="l"/>
                      <a:r>
                        <a:rPr sz="1100" b="0">
                          <a:solidFill>
                            <a:srgbClr val="4C4C4E"/>
                          </a:solidFill>
                          <a:latin typeface="Calibri"/>
                        </a:rPr>
                        <a:t>Logging / observability</a:t>
                      </a:r>
                    </a:p>
                  </a:txBody>
                  <a:tcPr>
                    <a:solidFill>
                      <a:srgbClr val="FFFFFF"/>
                    </a:solidFill>
                  </a:tcPr>
                </a:tc>
                <a:tc>
                  <a:txBody>
                    <a:bodyPr/>
                    <a:lstStyle/>
                    <a:p>
                      <a:pPr algn="r"/>
                      <a:r>
                        <a:rPr sz="1100" b="0">
                          <a:solidFill>
                            <a:srgbClr val="4C4C4E"/>
                          </a:solidFill>
                          <a:latin typeface="Calibri"/>
                        </a:rPr>
                        <a:t>14–25</a:t>
                      </a:r>
                    </a:p>
                  </a:txBody>
                  <a:tcPr>
                    <a:solidFill>
                      <a:srgbClr val="FFFFFF"/>
                    </a:solidFill>
                  </a:tcPr>
                </a:tc>
              </a:tr>
              <a:tr h="349134">
                <a:tc>
                  <a:txBody>
                    <a:bodyPr/>
                    <a:lstStyle/>
                    <a:p>
                      <a:pPr algn="l"/>
                      <a:r>
                        <a:rPr sz="1100" b="0">
                          <a:solidFill>
                            <a:srgbClr val="4C4C4E"/>
                          </a:solidFill>
                          <a:latin typeface="Calibri"/>
                        </a:rPr>
                        <a:t>QA support + bug fixing + rollout</a:t>
                      </a:r>
                    </a:p>
                  </a:txBody>
                  <a:tcPr>
                    <a:solidFill>
                      <a:srgbClr val="F8FCFB"/>
                    </a:solidFill>
                  </a:tcPr>
                </a:tc>
                <a:tc>
                  <a:txBody>
                    <a:bodyPr/>
                    <a:lstStyle/>
                    <a:p>
                      <a:pPr algn="r"/>
                      <a:r>
                        <a:rPr sz="1100" b="0">
                          <a:solidFill>
                            <a:srgbClr val="4C4C4E"/>
                          </a:solidFill>
                          <a:latin typeface="Calibri"/>
                        </a:rPr>
                        <a:t>21–39</a:t>
                      </a:r>
                    </a:p>
                  </a:txBody>
                  <a:tcPr>
                    <a:solidFill>
                      <a:srgbClr val="F8FCFB"/>
                    </a:solidFill>
                  </a:tcPr>
                </a:tc>
              </a:tr>
              <a:tr h="349134">
                <a:tc>
                  <a:txBody>
                    <a:bodyPr/>
                    <a:lstStyle/>
                    <a:p>
                      <a:pPr algn="l"/>
                      <a:r>
                        <a:rPr sz="1100" b="0">
                          <a:solidFill>
                            <a:srgbClr val="4C4C4E"/>
                          </a:solidFill>
                          <a:latin typeface="Calibri"/>
                        </a:rPr>
                        <a:t>Knowledge transfer / coordination</a:t>
                      </a:r>
                    </a:p>
                  </a:txBody>
                  <a:tcPr>
                    <a:solidFill>
                      <a:srgbClr val="FFFFFF"/>
                    </a:solidFill>
                  </a:tcPr>
                </a:tc>
                <a:tc>
                  <a:txBody>
                    <a:bodyPr/>
                    <a:lstStyle/>
                    <a:p>
                      <a:pPr algn="r"/>
                      <a:r>
                        <a:rPr sz="1100" b="0">
                          <a:solidFill>
                            <a:srgbClr val="4C4C4E"/>
                          </a:solidFill>
                          <a:latin typeface="Calibri"/>
                        </a:rPr>
                        <a:t>10–18</a:t>
                      </a:r>
                    </a:p>
                  </a:txBody>
                  <a:tcPr>
                    <a:solidFill>
                      <a:srgbClr val="FFFFFF"/>
                    </a:solidFill>
                  </a:tcPr>
                </a:tc>
              </a:tr>
              <a:tr h="349140">
                <a:tc>
                  <a:txBody>
                    <a:bodyPr/>
                    <a:lstStyle/>
                    <a:p>
                      <a:pPr algn="l"/>
                      <a:r>
                        <a:rPr sz="1100" b="1">
                          <a:solidFill>
                            <a:srgbClr val="006B72"/>
                          </a:solidFill>
                          <a:latin typeface="Calibri"/>
                        </a:rPr>
                        <a:t>Total Nadia</a:t>
                      </a:r>
                    </a:p>
                  </a:txBody>
                  <a:tcPr>
                    <a:solidFill>
                      <a:srgbClr val="DCF2F0"/>
                    </a:solidFill>
                  </a:tcPr>
                </a:tc>
                <a:tc>
                  <a:txBody>
                    <a:bodyPr/>
                    <a:lstStyle/>
                    <a:p>
                      <a:pPr algn="r"/>
                      <a:r>
                        <a:rPr sz="1100" b="1">
                          <a:solidFill>
                            <a:srgbClr val="006B72"/>
                          </a:solidFill>
                          <a:latin typeface="Calibri"/>
                        </a:rPr>
                        <a:t>137–254</a:t>
                      </a:r>
                    </a:p>
                  </a:txBody>
                  <a:tcPr>
                    <a:solidFill>
                      <a:srgbClr val="DCF2F0"/>
                    </a:solidFill>
                  </a:tcPr>
                </a:tc>
              </a:tr>
            </a:tbl>
          </a:graphicData>
        </a:graphic>
      </p:graphicFrame>
      <p:sp>
        <p:nvSpPr>
          <p:cNvPr id="7" name="TextBox 6"/>
          <p:cNvSpPr txBox="1"/>
          <p:nvPr/>
        </p:nvSpPr>
        <p:spPr>
          <a:xfrm>
            <a:off x="502920" y="6291072"/>
            <a:ext cx="6400800" cy="228600"/>
          </a:xfrm>
          <a:prstGeom prst="rect">
            <a:avLst/>
          </a:prstGeom>
          <a:noFill/>
        </p:spPr>
        <p:txBody>
          <a:bodyPr wrap="square">
            <a:spAutoFit/>
          </a:bodyPr>
          <a:lstStyle/>
          <a:p>
            <a:pPr algn="l"/>
            <a:r>
              <a:rPr sz="1000" b="0" i="1">
                <a:solidFill>
                  <a:srgbClr val="969698"/>
                </a:solidFill>
                <a:latin typeface="Calibri"/>
              </a:rPr>
              <a:t>Yulia (QA): 42–84 hours in parallel</a:t>
            </a:r>
          </a:p>
        </p:txBody>
      </p:sp>
      <p:sp>
        <p:nvSpPr>
          <p:cNvPr id="8" name="Rectangle 7"/>
          <p:cNvSpPr/>
          <p:nvPr/>
        </p:nvSpPr>
        <p:spPr>
          <a:xfrm>
            <a:off x="7269480" y="2377440"/>
            <a:ext cx="4419295" cy="1097280"/>
          </a:xfrm>
          <a:prstGeom prst="rect">
            <a:avLst/>
          </a:prstGeom>
          <a:solidFill>
            <a:srgbClr val="FFFFFF"/>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269480" y="2377440"/>
            <a:ext cx="4419295" cy="54864"/>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79208" y="2468880"/>
            <a:ext cx="4199839" cy="256032"/>
          </a:xfrm>
          <a:prstGeom prst="rect">
            <a:avLst/>
          </a:prstGeom>
          <a:noFill/>
        </p:spPr>
        <p:txBody>
          <a:bodyPr wrap="square">
            <a:spAutoFit/>
          </a:bodyPr>
          <a:lstStyle/>
          <a:p>
            <a:pPr algn="l"/>
            <a:r>
              <a:rPr sz="1000" b="1" i="0">
                <a:solidFill>
                  <a:srgbClr val="969698"/>
                </a:solidFill>
                <a:latin typeface="Calibri"/>
              </a:rPr>
              <a:t>Nadia (Dev)</a:t>
            </a:r>
          </a:p>
        </p:txBody>
      </p:sp>
      <p:sp>
        <p:nvSpPr>
          <p:cNvPr id="11" name="TextBox 10"/>
          <p:cNvSpPr txBox="1"/>
          <p:nvPr/>
        </p:nvSpPr>
        <p:spPr>
          <a:xfrm>
            <a:off x="7379208" y="2724912"/>
            <a:ext cx="4199839" cy="411480"/>
          </a:xfrm>
          <a:prstGeom prst="rect">
            <a:avLst/>
          </a:prstGeom>
          <a:noFill/>
        </p:spPr>
        <p:txBody>
          <a:bodyPr wrap="square">
            <a:spAutoFit/>
          </a:bodyPr>
          <a:lstStyle/>
          <a:p>
            <a:pPr algn="l"/>
            <a:r>
              <a:rPr sz="2000" b="1" i="0">
                <a:solidFill>
                  <a:srgbClr val="008C95"/>
                </a:solidFill>
                <a:latin typeface="Calibri"/>
              </a:rPr>
              <a:t>$12k – $23k</a:t>
            </a:r>
          </a:p>
        </p:txBody>
      </p:sp>
      <p:sp>
        <p:nvSpPr>
          <p:cNvPr id="12" name="TextBox 11"/>
          <p:cNvSpPr txBox="1"/>
          <p:nvPr/>
        </p:nvSpPr>
        <p:spPr>
          <a:xfrm>
            <a:off x="7379208" y="3154680"/>
            <a:ext cx="4199839" cy="256032"/>
          </a:xfrm>
          <a:prstGeom prst="rect">
            <a:avLst/>
          </a:prstGeom>
          <a:noFill/>
        </p:spPr>
        <p:txBody>
          <a:bodyPr wrap="square">
            <a:spAutoFit/>
          </a:bodyPr>
          <a:lstStyle/>
          <a:p>
            <a:pPr algn="l"/>
            <a:r>
              <a:rPr sz="1000" b="0" i="0">
                <a:solidFill>
                  <a:srgbClr val="969698"/>
                </a:solidFill>
                <a:latin typeface="Calibri"/>
              </a:rPr>
              <a:t>137–254 hrs @ ~$90/hr loaded</a:t>
            </a:r>
          </a:p>
        </p:txBody>
      </p:sp>
      <p:sp>
        <p:nvSpPr>
          <p:cNvPr id="13" name="Rectangle 12"/>
          <p:cNvSpPr/>
          <p:nvPr/>
        </p:nvSpPr>
        <p:spPr>
          <a:xfrm>
            <a:off x="7269480" y="3611880"/>
            <a:ext cx="4419295" cy="1097280"/>
          </a:xfrm>
          <a:prstGeom prst="rect">
            <a:avLst/>
          </a:prstGeom>
          <a:solidFill>
            <a:srgbClr val="FFFFFF"/>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269480" y="3611880"/>
            <a:ext cx="4419295" cy="54864"/>
          </a:xfrm>
          <a:prstGeom prst="rect">
            <a:avLst/>
          </a:prstGeom>
          <a:solidFill>
            <a:srgbClr val="D69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79208" y="3703320"/>
            <a:ext cx="4199839" cy="256032"/>
          </a:xfrm>
          <a:prstGeom prst="rect">
            <a:avLst/>
          </a:prstGeom>
          <a:noFill/>
        </p:spPr>
        <p:txBody>
          <a:bodyPr wrap="square">
            <a:spAutoFit/>
          </a:bodyPr>
          <a:lstStyle/>
          <a:p>
            <a:pPr algn="l"/>
            <a:r>
              <a:rPr sz="1000" b="1" i="0">
                <a:solidFill>
                  <a:srgbClr val="969698"/>
                </a:solidFill>
                <a:latin typeface="Calibri"/>
              </a:rPr>
              <a:t>Yulia (QA)</a:t>
            </a:r>
          </a:p>
        </p:txBody>
      </p:sp>
      <p:sp>
        <p:nvSpPr>
          <p:cNvPr id="16" name="TextBox 15"/>
          <p:cNvSpPr txBox="1"/>
          <p:nvPr/>
        </p:nvSpPr>
        <p:spPr>
          <a:xfrm>
            <a:off x="7379208" y="3959352"/>
            <a:ext cx="4199839" cy="411480"/>
          </a:xfrm>
          <a:prstGeom prst="rect">
            <a:avLst/>
          </a:prstGeom>
          <a:noFill/>
        </p:spPr>
        <p:txBody>
          <a:bodyPr wrap="square">
            <a:spAutoFit/>
          </a:bodyPr>
          <a:lstStyle/>
          <a:p>
            <a:pPr algn="l"/>
            <a:r>
              <a:rPr sz="2000" b="1" i="0">
                <a:solidFill>
                  <a:srgbClr val="D69A2D"/>
                </a:solidFill>
                <a:latin typeface="Calibri"/>
              </a:rPr>
              <a:t>$1.9k – $3.8k</a:t>
            </a:r>
          </a:p>
        </p:txBody>
      </p:sp>
      <p:sp>
        <p:nvSpPr>
          <p:cNvPr id="17" name="TextBox 16"/>
          <p:cNvSpPr txBox="1"/>
          <p:nvPr/>
        </p:nvSpPr>
        <p:spPr>
          <a:xfrm>
            <a:off x="7379208" y="4389120"/>
            <a:ext cx="4199839" cy="256032"/>
          </a:xfrm>
          <a:prstGeom prst="rect">
            <a:avLst/>
          </a:prstGeom>
          <a:noFill/>
        </p:spPr>
        <p:txBody>
          <a:bodyPr wrap="square">
            <a:spAutoFit/>
          </a:bodyPr>
          <a:lstStyle/>
          <a:p>
            <a:pPr algn="l"/>
            <a:r>
              <a:rPr sz="1000" b="0" i="0">
                <a:solidFill>
                  <a:srgbClr val="969698"/>
                </a:solidFill>
                <a:latin typeface="Calibri"/>
              </a:rPr>
              <a:t>42–84 hrs @ ~$45/hr loaded</a:t>
            </a:r>
          </a:p>
        </p:txBody>
      </p:sp>
      <p:sp>
        <p:nvSpPr>
          <p:cNvPr id="18" name="Rectangle 17"/>
          <p:cNvSpPr/>
          <p:nvPr/>
        </p:nvSpPr>
        <p:spPr>
          <a:xfrm>
            <a:off x="7269480" y="4846320"/>
            <a:ext cx="4419295" cy="1371600"/>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956048"/>
            <a:ext cx="4144975" cy="256032"/>
          </a:xfrm>
          <a:prstGeom prst="rect">
            <a:avLst/>
          </a:prstGeom>
          <a:noFill/>
        </p:spPr>
        <p:txBody>
          <a:bodyPr wrap="square">
            <a:spAutoFit/>
          </a:bodyPr>
          <a:lstStyle/>
          <a:p>
            <a:pPr algn="l"/>
            <a:r>
              <a:rPr sz="1000" b="1" i="0">
                <a:solidFill>
                  <a:srgbClr val="B4E1E3"/>
                </a:solidFill>
                <a:latin typeface="Calibri"/>
              </a:rPr>
              <a:t>COMBINED</a:t>
            </a:r>
          </a:p>
        </p:txBody>
      </p:sp>
      <p:sp>
        <p:nvSpPr>
          <p:cNvPr id="20" name="TextBox 19"/>
          <p:cNvSpPr txBox="1"/>
          <p:nvPr/>
        </p:nvSpPr>
        <p:spPr>
          <a:xfrm>
            <a:off x="7406640" y="5230368"/>
            <a:ext cx="4144975" cy="502920"/>
          </a:xfrm>
          <a:prstGeom prst="rect">
            <a:avLst/>
          </a:prstGeom>
          <a:noFill/>
        </p:spPr>
        <p:txBody>
          <a:bodyPr wrap="square">
            <a:spAutoFit/>
          </a:bodyPr>
          <a:lstStyle/>
          <a:p>
            <a:pPr algn="l"/>
            <a:r>
              <a:rPr sz="2400" b="1" i="0">
                <a:solidFill>
                  <a:srgbClr val="FFFFFF"/>
                </a:solidFill>
                <a:latin typeface="Calibri"/>
              </a:rPr>
              <a:t>$15k – $27k</a:t>
            </a:r>
          </a:p>
        </p:txBody>
      </p:sp>
      <p:sp>
        <p:nvSpPr>
          <p:cNvPr id="21" name="TextBox 20"/>
          <p:cNvSpPr txBox="1"/>
          <p:nvPr/>
        </p:nvSpPr>
        <p:spPr>
          <a:xfrm>
            <a:off x="7406640" y="5760720"/>
            <a:ext cx="4144975" cy="320040"/>
          </a:xfrm>
          <a:prstGeom prst="rect">
            <a:avLst/>
          </a:prstGeom>
          <a:noFill/>
        </p:spPr>
        <p:txBody>
          <a:bodyPr wrap="square">
            <a:spAutoFit/>
          </a:bodyPr>
          <a:lstStyle/>
          <a:p>
            <a:pPr algn="l"/>
            <a:r>
              <a:rPr sz="1100" b="0" i="0">
                <a:solidFill>
                  <a:srgbClr val="C8EBED"/>
                </a:solidFill>
                <a:latin typeface="Calibri"/>
              </a:rPr>
              <a:t>Likely range: $16k–$22k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11535" y="164592"/>
            <a:ext cx="1097280" cy="274320"/>
          </a:xfrm>
          <a:prstGeom prst="rect">
            <a:avLst/>
          </a:prstGeom>
          <a:noFill/>
        </p:spPr>
        <p:txBody>
          <a:bodyPr wrap="square">
            <a:spAutoFit/>
          </a:bodyPr>
          <a:lstStyle/>
          <a:p>
            <a:pPr algn="r"/>
            <a:r>
              <a:rPr sz="900" b="0" i="0">
                <a:solidFill>
                  <a:srgbClr val="969698"/>
                </a:solidFill>
                <a:latin typeface="Calibri"/>
              </a:rPr>
              <a:t>10 / 11</a:t>
            </a:r>
          </a:p>
        </p:txBody>
      </p:sp>
      <p:sp>
        <p:nvSpPr>
          <p:cNvPr id="3" name="TextBox 2"/>
          <p:cNvSpPr txBox="1"/>
          <p:nvPr/>
        </p:nvSpPr>
        <p:spPr>
          <a:xfrm>
            <a:off x="502920" y="1005840"/>
            <a:ext cx="11185855" cy="274320"/>
          </a:xfrm>
          <a:prstGeom prst="rect">
            <a:avLst/>
          </a:prstGeom>
          <a:noFill/>
        </p:spPr>
        <p:txBody>
          <a:bodyPr wrap="square">
            <a:spAutoFit/>
          </a:bodyPr>
          <a:lstStyle/>
          <a:p>
            <a:pPr algn="l"/>
            <a:r>
              <a:rPr sz="1000" b="1" i="0">
                <a:solidFill>
                  <a:srgbClr val="D69A2D"/>
                </a:solidFill>
                <a:latin typeface="Calibri"/>
              </a:rPr>
              <a:t>DECISION FRAMEWORK</a:t>
            </a:r>
          </a:p>
        </p:txBody>
      </p:sp>
      <p:sp>
        <p:nvSpPr>
          <p:cNvPr id="4" name="TextBox 3"/>
          <p:cNvSpPr txBox="1"/>
          <p:nvPr/>
        </p:nvSpPr>
        <p:spPr>
          <a:xfrm>
            <a:off x="502920" y="1298448"/>
            <a:ext cx="11185855" cy="731520"/>
          </a:xfrm>
          <a:prstGeom prst="rect">
            <a:avLst/>
          </a:prstGeom>
          <a:noFill/>
        </p:spPr>
        <p:txBody>
          <a:bodyPr wrap="square">
            <a:spAutoFit/>
          </a:bodyPr>
          <a:lstStyle/>
          <a:p>
            <a:pPr algn="l"/>
            <a:r>
              <a:rPr sz="3000" b="0" i="0">
                <a:solidFill>
                  <a:srgbClr val="008C95"/>
                </a:solidFill>
                <a:latin typeface="Georgia"/>
              </a:rPr>
              <a:t>Three Options</a:t>
            </a:r>
          </a:p>
        </p:txBody>
      </p:sp>
      <p:sp>
        <p:nvSpPr>
          <p:cNvPr id="5" name="Rectangle 4"/>
          <p:cNvSpPr/>
          <p:nvPr/>
        </p:nvSpPr>
        <p:spPr>
          <a:xfrm>
            <a:off x="502920" y="1920240"/>
            <a:ext cx="3606698" cy="5120640"/>
          </a:xfrm>
          <a:prstGeom prst="rect">
            <a:avLst/>
          </a:prstGeom>
          <a:solidFill>
            <a:srgbClr val="FFFFFF"/>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920240"/>
            <a:ext cx="3606698" cy="64008"/>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029968"/>
            <a:ext cx="3332378" cy="256032"/>
          </a:xfrm>
          <a:prstGeom prst="rect">
            <a:avLst/>
          </a:prstGeom>
          <a:noFill/>
        </p:spPr>
        <p:txBody>
          <a:bodyPr wrap="square">
            <a:spAutoFit/>
          </a:bodyPr>
          <a:lstStyle/>
          <a:p>
            <a:pPr algn="l"/>
            <a:r>
              <a:rPr sz="1000" b="1" i="0">
                <a:solidFill>
                  <a:srgbClr val="008C95"/>
                </a:solidFill>
                <a:latin typeface="Calibri"/>
              </a:rPr>
              <a:t>OPTION A</a:t>
            </a:r>
          </a:p>
        </p:txBody>
      </p:sp>
      <p:sp>
        <p:nvSpPr>
          <p:cNvPr id="8" name="TextBox 7"/>
          <p:cNvSpPr txBox="1"/>
          <p:nvPr/>
        </p:nvSpPr>
        <p:spPr>
          <a:xfrm>
            <a:off x="640080" y="2304288"/>
            <a:ext cx="3332378" cy="594360"/>
          </a:xfrm>
          <a:prstGeom prst="rect">
            <a:avLst/>
          </a:prstGeom>
          <a:noFill/>
        </p:spPr>
        <p:txBody>
          <a:bodyPr wrap="square">
            <a:spAutoFit/>
          </a:bodyPr>
          <a:lstStyle/>
          <a:p>
            <a:pPr algn="l"/>
            <a:r>
              <a:rPr sz="1400" b="1" i="0">
                <a:solidFill>
                  <a:srgbClr val="4C4C4E"/>
                </a:solidFill>
                <a:latin typeface="Calibri"/>
              </a:rPr>
              <a:t>Engage Consultant — Stage-Gated Pilot</a:t>
            </a:r>
          </a:p>
        </p:txBody>
      </p:sp>
      <p:sp>
        <p:nvSpPr>
          <p:cNvPr id="9" name="TextBox 8"/>
          <p:cNvSpPr txBox="1"/>
          <p:nvPr/>
        </p:nvSpPr>
        <p:spPr>
          <a:xfrm>
            <a:off x="640080" y="2926080"/>
            <a:ext cx="3332378" cy="457200"/>
          </a:xfrm>
          <a:prstGeom prst="rect">
            <a:avLst/>
          </a:prstGeom>
          <a:noFill/>
        </p:spPr>
        <p:txBody>
          <a:bodyPr wrap="square">
            <a:spAutoFit/>
          </a:bodyPr>
          <a:lstStyle/>
          <a:p>
            <a:pPr algn="l"/>
            <a:r>
              <a:rPr sz="1000" b="0" i="1">
                <a:solidFill>
                  <a:srgbClr val="969698"/>
                </a:solidFill>
                <a:latin typeface="Calibri"/>
              </a:rPr>
              <a:t>2-bin pilot at UMass Lowell · ~$36k–$65k all-in · 4–5 months</a:t>
            </a:r>
          </a:p>
        </p:txBody>
      </p:sp>
      <p:sp>
        <p:nvSpPr>
          <p:cNvPr id="10" name="TextBox 9"/>
          <p:cNvSpPr txBox="1"/>
          <p:nvPr/>
        </p:nvSpPr>
        <p:spPr>
          <a:xfrm>
            <a:off x="640080" y="3429000"/>
            <a:ext cx="3332378" cy="1097280"/>
          </a:xfrm>
          <a:prstGeom prst="rect">
            <a:avLst/>
          </a:prstGeom>
          <a:noFill/>
        </p:spPr>
        <p:txBody>
          <a:bodyPr wrap="square">
            <a:spAutoFit/>
          </a:bodyPr>
          <a:lstStyle/>
          <a:p>
            <a:pPr algn="l"/>
            <a:r>
              <a:rPr sz="1200" b="0" i="0">
                <a:solidFill>
                  <a:srgbClr val="4C4C4E"/>
                </a:solidFill>
                <a:latin typeface="Calibri"/>
              </a:rPr>
              <a:t>Start with known bin geometry. Decision gate after pilot: does it work well enough? Only expand to 9 bins if pilot succeeds.</a:t>
            </a:r>
          </a:p>
        </p:txBody>
      </p:sp>
      <p:sp>
        <p:nvSpPr>
          <p:cNvPr id="11" name="Rectangle 10"/>
          <p:cNvSpPr/>
          <p:nvPr/>
        </p:nvSpPr>
        <p:spPr>
          <a:xfrm>
            <a:off x="640080" y="4663440"/>
            <a:ext cx="36576" cy="457200"/>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4663440"/>
            <a:ext cx="3240938" cy="502920"/>
          </a:xfrm>
          <a:prstGeom prst="rect">
            <a:avLst/>
          </a:prstGeom>
          <a:noFill/>
        </p:spPr>
        <p:txBody>
          <a:bodyPr wrap="square">
            <a:spAutoFit/>
          </a:bodyPr>
          <a:lstStyle/>
          <a:p>
            <a:pPr algn="l"/>
            <a:r>
              <a:rPr sz="1100" b="0" i="0">
                <a:solidFill>
                  <a:srgbClr val="006B72"/>
                </a:solidFill>
                <a:latin typeface="Calibri"/>
              </a:rPr>
              <a:t>+ Most thorough path; real CV expertise; proves concept before scaling</a:t>
            </a:r>
          </a:p>
        </p:txBody>
      </p:sp>
      <p:sp>
        <p:nvSpPr>
          <p:cNvPr id="13" name="Rectangle 12"/>
          <p:cNvSpPr/>
          <p:nvPr/>
        </p:nvSpPr>
        <p:spPr>
          <a:xfrm>
            <a:off x="640080" y="5257800"/>
            <a:ext cx="36576" cy="457200"/>
          </a:xfrm>
          <a:prstGeom prst="rect">
            <a:avLst/>
          </a:prstGeom>
          <a:solidFill>
            <a:srgbClr val="D69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5257800"/>
            <a:ext cx="3240938" cy="502920"/>
          </a:xfrm>
          <a:prstGeom prst="rect">
            <a:avLst/>
          </a:prstGeom>
          <a:noFill/>
        </p:spPr>
        <p:txBody>
          <a:bodyPr wrap="square">
            <a:spAutoFit/>
          </a:bodyPr>
          <a:lstStyle/>
          <a:p>
            <a:pPr algn="l"/>
            <a:r>
              <a:rPr sz="1100" b="0" i="0">
                <a:solidFill>
                  <a:srgbClr val="969698"/>
                </a:solidFill>
                <a:latin typeface="Calibri"/>
              </a:rPr>
              <a:t>– Significant investment before we confirm the problem it solves is driving losses</a:t>
            </a:r>
          </a:p>
        </p:txBody>
      </p:sp>
      <p:sp>
        <p:nvSpPr>
          <p:cNvPr id="15" name="Rectangle 14"/>
          <p:cNvSpPr/>
          <p:nvPr/>
        </p:nvSpPr>
        <p:spPr>
          <a:xfrm>
            <a:off x="4292498" y="1920240"/>
            <a:ext cx="3606698" cy="5120640"/>
          </a:xfrm>
          <a:prstGeom prst="rect">
            <a:avLst/>
          </a:prstGeom>
          <a:solidFill>
            <a:srgbClr val="FFFFFF"/>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2498" y="1920240"/>
            <a:ext cx="3606698" cy="64008"/>
          </a:xfrm>
          <a:prstGeom prst="rect">
            <a:avLst/>
          </a:prstGeom>
          <a:solidFill>
            <a:srgbClr val="D69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29658" y="2029968"/>
            <a:ext cx="3332378" cy="256032"/>
          </a:xfrm>
          <a:prstGeom prst="rect">
            <a:avLst/>
          </a:prstGeom>
          <a:noFill/>
        </p:spPr>
        <p:txBody>
          <a:bodyPr wrap="square">
            <a:spAutoFit/>
          </a:bodyPr>
          <a:lstStyle/>
          <a:p>
            <a:pPr algn="l"/>
            <a:r>
              <a:rPr sz="1000" b="1" i="0">
                <a:solidFill>
                  <a:srgbClr val="D69A2D"/>
                </a:solidFill>
                <a:latin typeface="Calibri"/>
              </a:rPr>
              <a:t>OPTION B</a:t>
            </a:r>
          </a:p>
        </p:txBody>
      </p:sp>
      <p:sp>
        <p:nvSpPr>
          <p:cNvPr id="18" name="TextBox 17"/>
          <p:cNvSpPr txBox="1"/>
          <p:nvPr/>
        </p:nvSpPr>
        <p:spPr>
          <a:xfrm>
            <a:off x="4429658" y="2304288"/>
            <a:ext cx="3332378" cy="594360"/>
          </a:xfrm>
          <a:prstGeom prst="rect">
            <a:avLst/>
          </a:prstGeom>
          <a:noFill/>
        </p:spPr>
        <p:txBody>
          <a:bodyPr wrap="square">
            <a:spAutoFit/>
          </a:bodyPr>
          <a:lstStyle/>
          <a:p>
            <a:pPr algn="l"/>
            <a:r>
              <a:rPr sz="1400" b="1" i="0">
                <a:solidFill>
                  <a:srgbClr val="4C4C4E"/>
                </a:solidFill>
                <a:latin typeface="Calibri"/>
              </a:rPr>
              <a:t>Small Internal Pilot — No Consultant</a:t>
            </a:r>
          </a:p>
        </p:txBody>
      </p:sp>
      <p:sp>
        <p:nvSpPr>
          <p:cNvPr id="19" name="TextBox 18"/>
          <p:cNvSpPr txBox="1"/>
          <p:nvPr/>
        </p:nvSpPr>
        <p:spPr>
          <a:xfrm>
            <a:off x="4429658" y="2926080"/>
            <a:ext cx="3332378" cy="457200"/>
          </a:xfrm>
          <a:prstGeom prst="rect">
            <a:avLst/>
          </a:prstGeom>
          <a:noFill/>
        </p:spPr>
        <p:txBody>
          <a:bodyPr wrap="square">
            <a:spAutoFit/>
          </a:bodyPr>
          <a:lstStyle/>
          <a:p>
            <a:pPr algn="l"/>
            <a:r>
              <a:rPr sz="1000" b="0" i="1">
                <a:solidFill>
                  <a:srgbClr val="969698"/>
                </a:solidFill>
                <a:latin typeface="Calibri"/>
              </a:rPr>
              <a:t>Off-the-shelf cameras · basic motion detection · lower upfront cost</a:t>
            </a:r>
          </a:p>
        </p:txBody>
      </p:sp>
      <p:sp>
        <p:nvSpPr>
          <p:cNvPr id="20" name="TextBox 19"/>
          <p:cNvSpPr txBox="1"/>
          <p:nvPr/>
        </p:nvSpPr>
        <p:spPr>
          <a:xfrm>
            <a:off x="4429658" y="3429000"/>
            <a:ext cx="3332378" cy="1097280"/>
          </a:xfrm>
          <a:prstGeom prst="rect">
            <a:avLst/>
          </a:prstGeom>
          <a:noFill/>
        </p:spPr>
        <p:txBody>
          <a:bodyPr wrap="square">
            <a:spAutoFit/>
          </a:bodyPr>
          <a:lstStyle/>
          <a:p>
            <a:pPr algn="l"/>
            <a:r>
              <a:rPr sz="1200" b="0" i="0">
                <a:solidFill>
                  <a:srgbClr val="4C4C4E"/>
                </a:solidFill>
                <a:latin typeface="Calibri"/>
              </a:rPr>
              <a:t>Use existing team knowledge to prototype a simpler version. Skip custom throat design to start.</a:t>
            </a:r>
          </a:p>
        </p:txBody>
      </p:sp>
      <p:sp>
        <p:nvSpPr>
          <p:cNvPr id="21" name="Rectangle 20"/>
          <p:cNvSpPr/>
          <p:nvPr/>
        </p:nvSpPr>
        <p:spPr>
          <a:xfrm>
            <a:off x="4429658" y="4663440"/>
            <a:ext cx="36576" cy="457200"/>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48530" y="4663440"/>
            <a:ext cx="3240938" cy="502920"/>
          </a:xfrm>
          <a:prstGeom prst="rect">
            <a:avLst/>
          </a:prstGeom>
          <a:noFill/>
        </p:spPr>
        <p:txBody>
          <a:bodyPr wrap="square">
            <a:spAutoFit/>
          </a:bodyPr>
          <a:lstStyle/>
          <a:p>
            <a:pPr algn="l"/>
            <a:r>
              <a:rPr sz="1100" b="0" i="0">
                <a:solidFill>
                  <a:srgbClr val="006B72"/>
                </a:solidFill>
                <a:latin typeface="Calibri"/>
              </a:rPr>
              <a:t>+ Cheaper to start; keeps optionality; builds internal knowledge</a:t>
            </a:r>
          </a:p>
        </p:txBody>
      </p:sp>
      <p:sp>
        <p:nvSpPr>
          <p:cNvPr id="23" name="Rectangle 22"/>
          <p:cNvSpPr/>
          <p:nvPr/>
        </p:nvSpPr>
        <p:spPr>
          <a:xfrm>
            <a:off x="4429658" y="5257800"/>
            <a:ext cx="36576" cy="457200"/>
          </a:xfrm>
          <a:prstGeom prst="rect">
            <a:avLst/>
          </a:prstGeom>
          <a:solidFill>
            <a:srgbClr val="D69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48530" y="5257800"/>
            <a:ext cx="3240938" cy="502920"/>
          </a:xfrm>
          <a:prstGeom prst="rect">
            <a:avLst/>
          </a:prstGeom>
          <a:noFill/>
        </p:spPr>
        <p:txBody>
          <a:bodyPr wrap="square">
            <a:spAutoFit/>
          </a:bodyPr>
          <a:lstStyle/>
          <a:p>
            <a:pPr algn="l"/>
            <a:r>
              <a:rPr sz="1100" b="0" i="0">
                <a:solidFill>
                  <a:srgbClr val="969698"/>
                </a:solidFill>
                <a:latin typeface="Calibri"/>
              </a:rPr>
              <a:t>– No CV expertise; risk of building something that doesn't validate the concept</a:t>
            </a:r>
          </a:p>
        </p:txBody>
      </p:sp>
      <p:sp>
        <p:nvSpPr>
          <p:cNvPr id="25" name="Rectangle 24"/>
          <p:cNvSpPr/>
          <p:nvPr/>
        </p:nvSpPr>
        <p:spPr>
          <a:xfrm>
            <a:off x="8082076" y="1920240"/>
            <a:ext cx="3606698" cy="5120640"/>
          </a:xfrm>
          <a:prstGeom prst="rect">
            <a:avLst/>
          </a:prstGeom>
          <a:solidFill>
            <a:srgbClr val="FFFFFF"/>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82076" y="1920240"/>
            <a:ext cx="3606698" cy="64008"/>
          </a:xfrm>
          <a:prstGeom prst="rect">
            <a:avLst/>
          </a:prstGeom>
          <a:solidFill>
            <a:srgbClr val="9696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19236" y="2029968"/>
            <a:ext cx="3332378" cy="256032"/>
          </a:xfrm>
          <a:prstGeom prst="rect">
            <a:avLst/>
          </a:prstGeom>
          <a:noFill/>
        </p:spPr>
        <p:txBody>
          <a:bodyPr wrap="square">
            <a:spAutoFit/>
          </a:bodyPr>
          <a:lstStyle/>
          <a:p>
            <a:pPr algn="l"/>
            <a:r>
              <a:rPr sz="1000" b="1" i="0">
                <a:solidFill>
                  <a:srgbClr val="969698"/>
                </a:solidFill>
                <a:latin typeface="Calibri"/>
              </a:rPr>
              <a:t>OPTION C</a:t>
            </a:r>
          </a:p>
        </p:txBody>
      </p:sp>
      <p:sp>
        <p:nvSpPr>
          <p:cNvPr id="28" name="TextBox 27"/>
          <p:cNvSpPr txBox="1"/>
          <p:nvPr/>
        </p:nvSpPr>
        <p:spPr>
          <a:xfrm>
            <a:off x="8219236" y="2304288"/>
            <a:ext cx="3332378" cy="594360"/>
          </a:xfrm>
          <a:prstGeom prst="rect">
            <a:avLst/>
          </a:prstGeom>
          <a:noFill/>
        </p:spPr>
        <p:txBody>
          <a:bodyPr wrap="square">
            <a:spAutoFit/>
          </a:bodyPr>
          <a:lstStyle/>
          <a:p>
            <a:pPr algn="l"/>
            <a:r>
              <a:rPr sz="1400" b="1" i="0">
                <a:solidFill>
                  <a:srgbClr val="4C4C4E"/>
                </a:solidFill>
                <a:latin typeface="Calibri"/>
              </a:rPr>
              <a:t>Shelve for Now</a:t>
            </a:r>
          </a:p>
        </p:txBody>
      </p:sp>
      <p:sp>
        <p:nvSpPr>
          <p:cNvPr id="29" name="TextBox 28"/>
          <p:cNvSpPr txBox="1"/>
          <p:nvPr/>
        </p:nvSpPr>
        <p:spPr>
          <a:xfrm>
            <a:off x="8219236" y="2926080"/>
            <a:ext cx="3332378" cy="457200"/>
          </a:xfrm>
          <a:prstGeom prst="rect">
            <a:avLst/>
          </a:prstGeom>
          <a:noFill/>
        </p:spPr>
        <p:txBody>
          <a:bodyPr wrap="square">
            <a:spAutoFit/>
          </a:bodyPr>
          <a:lstStyle/>
          <a:p>
            <a:pPr algn="l"/>
            <a:r>
              <a:rPr sz="1000" b="0" i="1">
                <a:solidFill>
                  <a:srgbClr val="969698"/>
                </a:solidFill>
                <a:latin typeface="Calibri"/>
              </a:rPr>
              <a:t>Gather loss data first · revisit when loss driver is confirmed</a:t>
            </a:r>
          </a:p>
        </p:txBody>
      </p:sp>
      <p:sp>
        <p:nvSpPr>
          <p:cNvPr id="30" name="TextBox 29"/>
          <p:cNvSpPr txBox="1"/>
          <p:nvPr/>
        </p:nvSpPr>
        <p:spPr>
          <a:xfrm>
            <a:off x="8219236" y="3429000"/>
            <a:ext cx="3332378" cy="1097280"/>
          </a:xfrm>
          <a:prstGeom prst="rect">
            <a:avLst/>
          </a:prstGeom>
          <a:noFill/>
        </p:spPr>
        <p:txBody>
          <a:bodyPr wrap="square">
            <a:spAutoFit/>
          </a:bodyPr>
          <a:lstStyle/>
          <a:p>
            <a:pPr algn="l"/>
            <a:r>
              <a:rPr sz="1200" b="0" i="0">
                <a:solidFill>
                  <a:srgbClr val="4C4C4E"/>
                </a:solidFill>
                <a:latin typeface="Calibri"/>
              </a:rPr>
              <a:t>Focus on root causes suggested by NAU and Lowell feedback. Confirm return-station fraud is a significant driver before investing.</a:t>
            </a:r>
          </a:p>
        </p:txBody>
      </p:sp>
      <p:sp>
        <p:nvSpPr>
          <p:cNvPr id="31" name="Rectangle 30"/>
          <p:cNvSpPr/>
          <p:nvPr/>
        </p:nvSpPr>
        <p:spPr>
          <a:xfrm>
            <a:off x="8219236" y="4663440"/>
            <a:ext cx="36576" cy="457200"/>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38108" y="4663440"/>
            <a:ext cx="3240938" cy="502920"/>
          </a:xfrm>
          <a:prstGeom prst="rect">
            <a:avLst/>
          </a:prstGeom>
          <a:noFill/>
        </p:spPr>
        <p:txBody>
          <a:bodyPr wrap="square">
            <a:spAutoFit/>
          </a:bodyPr>
          <a:lstStyle/>
          <a:p>
            <a:pPr algn="l"/>
            <a:r>
              <a:rPr sz="1100" b="0" i="0">
                <a:solidFill>
                  <a:srgbClr val="006B72"/>
                </a:solidFill>
                <a:latin typeface="Calibri"/>
              </a:rPr>
              <a:t>+ No investment risk; addresses "are we solving the right problem?" first</a:t>
            </a:r>
          </a:p>
        </p:txBody>
      </p:sp>
      <p:sp>
        <p:nvSpPr>
          <p:cNvPr id="33" name="Rectangle 32"/>
          <p:cNvSpPr/>
          <p:nvPr/>
        </p:nvSpPr>
        <p:spPr>
          <a:xfrm>
            <a:off x="8219236" y="5257800"/>
            <a:ext cx="36576" cy="457200"/>
          </a:xfrm>
          <a:prstGeom prst="rect">
            <a:avLst/>
          </a:prstGeom>
          <a:solidFill>
            <a:srgbClr val="D69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38108" y="5257800"/>
            <a:ext cx="3240938" cy="502920"/>
          </a:xfrm>
          <a:prstGeom prst="rect">
            <a:avLst/>
          </a:prstGeom>
          <a:noFill/>
        </p:spPr>
        <p:txBody>
          <a:bodyPr wrap="square">
            <a:spAutoFit/>
          </a:bodyPr>
          <a:lstStyle/>
          <a:p>
            <a:pPr algn="l"/>
            <a:r>
              <a:rPr sz="1100" b="0" i="0">
                <a:solidFill>
                  <a:srgbClr val="969698"/>
                </a:solidFill>
                <a:latin typeface="Calibri"/>
              </a:rPr>
              <a:t>– If CEO's instinct is right, we lose time; consultant may not be available later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DDF0EE"/>
        </a:solidFill>
        <a:effectLst/>
      </p:bgPr>
    </p:bg>
    <p:spTree>
      <p:nvGrpSpPr>
        <p:cNvPr id="1" name=""/>
        <p:cNvGrpSpPr/>
        <p:nvPr/>
      </p:nvGrpSpPr>
      <p:grpSpPr/>
      <p:sp>
        <p:nvSpPr>
          <p:cNvPr id="2" name="TextBox 1"/>
          <p:cNvSpPr txBox="1"/>
          <p:nvPr/>
        </p:nvSpPr>
        <p:spPr>
          <a:xfrm>
            <a:off x="10911535" y="164592"/>
            <a:ext cx="1097280" cy="274320"/>
          </a:xfrm>
          <a:prstGeom prst="rect">
            <a:avLst/>
          </a:prstGeom>
          <a:noFill/>
        </p:spPr>
        <p:txBody>
          <a:bodyPr wrap="square">
            <a:spAutoFit/>
          </a:bodyPr>
          <a:lstStyle/>
          <a:p>
            <a:pPr algn="r"/>
            <a:r>
              <a:rPr sz="900" b="0" i="0">
                <a:solidFill>
                  <a:srgbClr val="969698"/>
                </a:solidFill>
                <a:latin typeface="Calibri"/>
              </a:rPr>
              <a:t>11 / 11</a:t>
            </a:r>
          </a:p>
        </p:txBody>
      </p:sp>
      <p:sp>
        <p:nvSpPr>
          <p:cNvPr id="3" name="TextBox 2"/>
          <p:cNvSpPr txBox="1"/>
          <p:nvPr/>
        </p:nvSpPr>
        <p:spPr>
          <a:xfrm>
            <a:off x="502920" y="1005840"/>
            <a:ext cx="11185855" cy="274320"/>
          </a:xfrm>
          <a:prstGeom prst="rect">
            <a:avLst/>
          </a:prstGeom>
          <a:noFill/>
        </p:spPr>
        <p:txBody>
          <a:bodyPr wrap="square">
            <a:spAutoFit/>
          </a:bodyPr>
          <a:lstStyle/>
          <a:p>
            <a:pPr algn="l"/>
            <a:r>
              <a:rPr sz="1000" b="1" i="0">
                <a:solidFill>
                  <a:srgbClr val="D69A2D"/>
                </a:solidFill>
                <a:latin typeface="Calibri"/>
              </a:rPr>
              <a:t>BEFORE WE DECIDE</a:t>
            </a:r>
          </a:p>
        </p:txBody>
      </p:sp>
      <p:sp>
        <p:nvSpPr>
          <p:cNvPr id="4" name="TextBox 3"/>
          <p:cNvSpPr txBox="1"/>
          <p:nvPr/>
        </p:nvSpPr>
        <p:spPr>
          <a:xfrm>
            <a:off x="502920" y="1298448"/>
            <a:ext cx="11185855" cy="731520"/>
          </a:xfrm>
          <a:prstGeom prst="rect">
            <a:avLst/>
          </a:prstGeom>
          <a:noFill/>
        </p:spPr>
        <p:txBody>
          <a:bodyPr wrap="square">
            <a:spAutoFit/>
          </a:bodyPr>
          <a:lstStyle/>
          <a:p>
            <a:pPr algn="l"/>
            <a:r>
              <a:rPr sz="2800" b="0" i="0">
                <a:solidFill>
                  <a:srgbClr val="008C95"/>
                </a:solidFill>
                <a:latin typeface="Georgia"/>
              </a:rPr>
              <a:t>Key Unknowns &amp; Recommended Next Steps</a:t>
            </a:r>
          </a:p>
        </p:txBody>
      </p:sp>
      <p:sp>
        <p:nvSpPr>
          <p:cNvPr id="5" name="TextBox 4"/>
          <p:cNvSpPr txBox="1"/>
          <p:nvPr/>
        </p:nvSpPr>
        <p:spPr>
          <a:xfrm>
            <a:off x="502920" y="1965960"/>
            <a:ext cx="5410047" cy="274320"/>
          </a:xfrm>
          <a:prstGeom prst="rect">
            <a:avLst/>
          </a:prstGeom>
          <a:noFill/>
        </p:spPr>
        <p:txBody>
          <a:bodyPr wrap="square">
            <a:spAutoFit/>
          </a:bodyPr>
          <a:lstStyle/>
          <a:p>
            <a:pPr algn="l"/>
            <a:r>
              <a:rPr sz="900" b="1" i="0">
                <a:solidFill>
                  <a:srgbClr val="969698"/>
                </a:solidFill>
                <a:latin typeface="Calibri"/>
              </a:rPr>
              <a:t>WHAT WE DON'T KNOW YET</a:t>
            </a:r>
          </a:p>
        </p:txBody>
      </p:sp>
      <p:sp>
        <p:nvSpPr>
          <p:cNvPr id="6" name="Rectangle 5"/>
          <p:cNvSpPr/>
          <p:nvPr/>
        </p:nvSpPr>
        <p:spPr>
          <a:xfrm>
            <a:off x="502920" y="2377440"/>
            <a:ext cx="164592" cy="164592"/>
          </a:xfrm>
          <a:prstGeom prst="rect">
            <a:avLst/>
          </a:prstGeom>
          <a:solidFill>
            <a:srgbClr val="FFF6DC"/>
          </a:solidFill>
          <a:ln w="12700">
            <a:solidFill>
              <a:srgbClr val="D69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331720"/>
            <a:ext cx="5181447" cy="502920"/>
          </a:xfrm>
          <a:prstGeom prst="rect">
            <a:avLst/>
          </a:prstGeom>
          <a:noFill/>
        </p:spPr>
        <p:txBody>
          <a:bodyPr wrap="square">
            <a:spAutoFit/>
          </a:bodyPr>
          <a:lstStyle/>
          <a:p>
            <a:pPr algn="l"/>
            <a:r>
              <a:rPr sz="1200" b="0" i="0">
                <a:solidFill>
                  <a:srgbClr val="4C4C4E"/>
                </a:solidFill>
                <a:latin typeface="Calibri"/>
              </a:rPr>
              <a:t>Whether return-station fraud is actually a significant source of container loss (NAU + Lowell evidence suggests maybe not)</a:t>
            </a:r>
          </a:p>
        </p:txBody>
      </p:sp>
      <p:sp>
        <p:nvSpPr>
          <p:cNvPr id="8" name="Rectangle 7"/>
          <p:cNvSpPr/>
          <p:nvPr/>
        </p:nvSpPr>
        <p:spPr>
          <a:xfrm>
            <a:off x="502920" y="2944368"/>
            <a:ext cx="164592" cy="164592"/>
          </a:xfrm>
          <a:prstGeom prst="rect">
            <a:avLst/>
          </a:prstGeom>
          <a:solidFill>
            <a:srgbClr val="FFF6DC"/>
          </a:solidFill>
          <a:ln w="12700">
            <a:solidFill>
              <a:srgbClr val="D69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898648"/>
            <a:ext cx="5181447" cy="502920"/>
          </a:xfrm>
          <a:prstGeom prst="rect">
            <a:avLst/>
          </a:prstGeom>
          <a:noFill/>
        </p:spPr>
        <p:txBody>
          <a:bodyPr wrap="square">
            <a:spAutoFit/>
          </a:bodyPr>
          <a:lstStyle/>
          <a:p>
            <a:pPr algn="l"/>
            <a:r>
              <a:rPr sz="1200" b="0" i="0">
                <a:solidFill>
                  <a:srgbClr val="4C4C4E"/>
                </a:solidFill>
                <a:latin typeface="Calibri"/>
              </a:rPr>
              <a:t>Whether the no-illumination approach works in real dining hall lighting on wet, reflective surfaces</a:t>
            </a:r>
          </a:p>
        </p:txBody>
      </p:sp>
      <p:sp>
        <p:nvSpPr>
          <p:cNvPr id="10" name="Rectangle 9"/>
          <p:cNvSpPr/>
          <p:nvPr/>
        </p:nvSpPr>
        <p:spPr>
          <a:xfrm>
            <a:off x="502920" y="3511296"/>
            <a:ext cx="164592" cy="164592"/>
          </a:xfrm>
          <a:prstGeom prst="rect">
            <a:avLst/>
          </a:prstGeom>
          <a:solidFill>
            <a:srgbClr val="FFF6DC"/>
          </a:solidFill>
          <a:ln w="12700">
            <a:solidFill>
              <a:srgbClr val="D69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3465576"/>
            <a:ext cx="5181447" cy="502920"/>
          </a:xfrm>
          <a:prstGeom prst="rect">
            <a:avLst/>
          </a:prstGeom>
          <a:noFill/>
        </p:spPr>
        <p:txBody>
          <a:bodyPr wrap="square">
            <a:spAutoFit/>
          </a:bodyPr>
          <a:lstStyle/>
          <a:p>
            <a:pPr algn="l"/>
            <a:r>
              <a:rPr sz="1200" b="0" i="0">
                <a:solidFill>
                  <a:srgbClr val="4C4C4E"/>
                </a:solidFill>
                <a:latin typeface="Calibri"/>
              </a:rPr>
              <a:t>Whether NAU's existing bins can accommodate the system — or if they'd adopt USEFULL return stations</a:t>
            </a:r>
          </a:p>
        </p:txBody>
      </p:sp>
      <p:sp>
        <p:nvSpPr>
          <p:cNvPr id="12" name="Rectangle 11"/>
          <p:cNvSpPr/>
          <p:nvPr/>
        </p:nvSpPr>
        <p:spPr>
          <a:xfrm>
            <a:off x="502920" y="4078224"/>
            <a:ext cx="164592" cy="164592"/>
          </a:xfrm>
          <a:prstGeom prst="rect">
            <a:avLst/>
          </a:prstGeom>
          <a:solidFill>
            <a:srgbClr val="FFF6DC"/>
          </a:solidFill>
          <a:ln w="12700">
            <a:solidFill>
              <a:srgbClr val="D69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4032504"/>
            <a:ext cx="5181447" cy="502920"/>
          </a:xfrm>
          <a:prstGeom prst="rect">
            <a:avLst/>
          </a:prstGeom>
          <a:noFill/>
        </p:spPr>
        <p:txBody>
          <a:bodyPr wrap="square">
            <a:spAutoFit/>
          </a:bodyPr>
          <a:lstStyle/>
          <a:p>
            <a:pPr algn="l"/>
            <a:r>
              <a:rPr sz="1200" b="0" i="0">
                <a:solidFill>
                  <a:srgbClr val="4C4C4E"/>
                </a:solidFill>
                <a:latin typeface="Calibri"/>
              </a:rPr>
              <a:t>Whether Nadia's bandwidth can absorb this without impacting the roadmap</a:t>
            </a:r>
          </a:p>
        </p:txBody>
      </p:sp>
      <p:sp>
        <p:nvSpPr>
          <p:cNvPr id="14" name="Rectangle 13"/>
          <p:cNvSpPr/>
          <p:nvPr/>
        </p:nvSpPr>
        <p:spPr>
          <a:xfrm>
            <a:off x="502920" y="4645152"/>
            <a:ext cx="164592" cy="164592"/>
          </a:xfrm>
          <a:prstGeom prst="rect">
            <a:avLst/>
          </a:prstGeom>
          <a:solidFill>
            <a:srgbClr val="FFF6DC"/>
          </a:solidFill>
          <a:ln w="12700">
            <a:solidFill>
              <a:srgbClr val="D69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 y="4599432"/>
            <a:ext cx="5181447" cy="502920"/>
          </a:xfrm>
          <a:prstGeom prst="rect">
            <a:avLst/>
          </a:prstGeom>
          <a:noFill/>
        </p:spPr>
        <p:txBody>
          <a:bodyPr wrap="square">
            <a:spAutoFit/>
          </a:bodyPr>
          <a:lstStyle/>
          <a:p>
            <a:pPr algn="l"/>
            <a:r>
              <a:rPr sz="1200" b="0" i="0">
                <a:solidFill>
                  <a:srgbClr val="4C4C4E"/>
                </a:solidFill>
                <a:latin typeface="Calibri"/>
              </a:rPr>
              <a:t>Exact mechanical fit — 1.75" rails are tight once fasteners, brackets, and cable bends are added</a:t>
            </a:r>
          </a:p>
        </p:txBody>
      </p:sp>
      <p:sp>
        <p:nvSpPr>
          <p:cNvPr id="16" name="TextBox 15"/>
          <p:cNvSpPr txBox="1"/>
          <p:nvPr/>
        </p:nvSpPr>
        <p:spPr>
          <a:xfrm>
            <a:off x="6278727" y="1965960"/>
            <a:ext cx="5410047" cy="274320"/>
          </a:xfrm>
          <a:prstGeom prst="rect">
            <a:avLst/>
          </a:prstGeom>
          <a:noFill/>
        </p:spPr>
        <p:txBody>
          <a:bodyPr wrap="square">
            <a:spAutoFit/>
          </a:bodyPr>
          <a:lstStyle/>
          <a:p>
            <a:pPr algn="l"/>
            <a:r>
              <a:rPr sz="900" b="1" i="0">
                <a:solidFill>
                  <a:srgbClr val="969698"/>
                </a:solidFill>
                <a:latin typeface="Calibri"/>
              </a:rPr>
              <a:t>REGARDLESS OF OPTION — IMMEDIATE NEXT STEPS</a:t>
            </a:r>
          </a:p>
        </p:txBody>
      </p:sp>
      <p:sp>
        <p:nvSpPr>
          <p:cNvPr id="17" name="Rectangle 16"/>
          <p:cNvSpPr/>
          <p:nvPr/>
        </p:nvSpPr>
        <p:spPr>
          <a:xfrm>
            <a:off x="6278727" y="2368296"/>
            <a:ext cx="256032" cy="256032"/>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78727" y="2368296"/>
            <a:ext cx="256032" cy="256032"/>
          </a:xfrm>
          <a:prstGeom prst="rect">
            <a:avLst/>
          </a:prstGeom>
          <a:noFill/>
        </p:spPr>
        <p:txBody>
          <a:bodyPr wrap="square">
            <a:spAutoFit/>
          </a:bodyPr>
          <a:lstStyle/>
          <a:p>
            <a:pPr algn="ctr"/>
            <a:r>
              <a:rPr sz="1100" b="1" i="0">
                <a:solidFill>
                  <a:srgbClr val="FFFFFF"/>
                </a:solidFill>
                <a:latin typeface="Calibri"/>
              </a:rPr>
              <a:t>1</a:t>
            </a:r>
          </a:p>
        </p:txBody>
      </p:sp>
      <p:sp>
        <p:nvSpPr>
          <p:cNvPr id="19" name="TextBox 18"/>
          <p:cNvSpPr txBox="1"/>
          <p:nvPr/>
        </p:nvSpPr>
        <p:spPr>
          <a:xfrm>
            <a:off x="6626199" y="2331720"/>
            <a:ext cx="5062575" cy="640080"/>
          </a:xfrm>
          <a:prstGeom prst="rect">
            <a:avLst/>
          </a:prstGeom>
          <a:noFill/>
        </p:spPr>
        <p:txBody>
          <a:bodyPr wrap="square">
            <a:spAutoFit/>
          </a:bodyPr>
          <a:lstStyle/>
          <a:p>
            <a:pPr algn="l"/>
            <a:r>
              <a:rPr sz="1200" b="0" i="0">
                <a:solidFill>
                  <a:srgbClr val="4C4C4E"/>
                </a:solidFill>
                <a:latin typeface="Calibri"/>
              </a:rPr>
              <a:t>Quantify the actual loss rate at return stations specifically, vs. other points in the container lifecycle</a:t>
            </a:r>
          </a:p>
        </p:txBody>
      </p:sp>
      <p:sp>
        <p:nvSpPr>
          <p:cNvPr id="20" name="Rectangle 19"/>
          <p:cNvSpPr/>
          <p:nvPr/>
        </p:nvSpPr>
        <p:spPr>
          <a:xfrm>
            <a:off x="6278727" y="3099816"/>
            <a:ext cx="256032" cy="256032"/>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78727" y="3099816"/>
            <a:ext cx="256032" cy="256032"/>
          </a:xfrm>
          <a:prstGeom prst="rect">
            <a:avLst/>
          </a:prstGeom>
          <a:noFill/>
        </p:spPr>
        <p:txBody>
          <a:bodyPr wrap="square">
            <a:spAutoFit/>
          </a:bodyPr>
          <a:lstStyle/>
          <a:p>
            <a:pPr algn="ctr"/>
            <a:r>
              <a:rPr sz="1100" b="1" i="0">
                <a:solidFill>
                  <a:srgbClr val="FFFFFF"/>
                </a:solidFill>
                <a:latin typeface="Calibri"/>
              </a:rPr>
              <a:t>2</a:t>
            </a:r>
          </a:p>
        </p:txBody>
      </p:sp>
      <p:sp>
        <p:nvSpPr>
          <p:cNvPr id="22" name="TextBox 21"/>
          <p:cNvSpPr txBox="1"/>
          <p:nvPr/>
        </p:nvSpPr>
        <p:spPr>
          <a:xfrm>
            <a:off x="6626199" y="3063240"/>
            <a:ext cx="5062575" cy="640080"/>
          </a:xfrm>
          <a:prstGeom prst="rect">
            <a:avLst/>
          </a:prstGeom>
          <a:noFill/>
        </p:spPr>
        <p:txBody>
          <a:bodyPr wrap="square">
            <a:spAutoFit/>
          </a:bodyPr>
          <a:lstStyle/>
          <a:p>
            <a:pPr algn="l"/>
            <a:r>
              <a:rPr sz="1200" b="0" i="0">
                <a:solidFill>
                  <a:srgbClr val="4C4C4E"/>
                </a:solidFill>
                <a:latin typeface="Calibri"/>
              </a:rPr>
              <a:t>Clarify whether NAU needs to use existing bins or would adopt USEFULL return stations</a:t>
            </a:r>
          </a:p>
        </p:txBody>
      </p:sp>
      <p:sp>
        <p:nvSpPr>
          <p:cNvPr id="23" name="Rectangle 22"/>
          <p:cNvSpPr/>
          <p:nvPr/>
        </p:nvSpPr>
        <p:spPr>
          <a:xfrm>
            <a:off x="6278727" y="3831336"/>
            <a:ext cx="256032" cy="256032"/>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78727" y="3831336"/>
            <a:ext cx="256032" cy="256032"/>
          </a:xfrm>
          <a:prstGeom prst="rect">
            <a:avLst/>
          </a:prstGeom>
          <a:noFill/>
        </p:spPr>
        <p:txBody>
          <a:bodyPr wrap="square">
            <a:spAutoFit/>
          </a:bodyPr>
          <a:lstStyle/>
          <a:p>
            <a:pPr algn="ctr"/>
            <a:r>
              <a:rPr sz="1100" b="1" i="0">
                <a:solidFill>
                  <a:srgbClr val="FFFFFF"/>
                </a:solidFill>
                <a:latin typeface="Calibri"/>
              </a:rPr>
              <a:t>3</a:t>
            </a:r>
          </a:p>
        </p:txBody>
      </p:sp>
      <p:sp>
        <p:nvSpPr>
          <p:cNvPr id="25" name="TextBox 24"/>
          <p:cNvSpPr txBox="1"/>
          <p:nvPr/>
        </p:nvSpPr>
        <p:spPr>
          <a:xfrm>
            <a:off x="6626199" y="3794760"/>
            <a:ext cx="5062575" cy="640080"/>
          </a:xfrm>
          <a:prstGeom prst="rect">
            <a:avLst/>
          </a:prstGeom>
          <a:noFill/>
        </p:spPr>
        <p:txBody>
          <a:bodyPr wrap="square">
            <a:spAutoFit/>
          </a:bodyPr>
          <a:lstStyle/>
          <a:p>
            <a:pPr algn="l"/>
            <a:r>
              <a:rPr sz="1200" b="0" i="0">
                <a:solidFill>
                  <a:srgbClr val="4C4C4E"/>
                </a:solidFill>
                <a:latin typeface="Calibri"/>
              </a:rPr>
              <a:t>If proceeding: start with a 2-bin pilot at one site with known geometry — don't try to solve modularity first</a:t>
            </a:r>
          </a:p>
        </p:txBody>
      </p:sp>
      <p:sp>
        <p:nvSpPr>
          <p:cNvPr id="26" name="Rectangle 25"/>
          <p:cNvSpPr/>
          <p:nvPr/>
        </p:nvSpPr>
        <p:spPr>
          <a:xfrm>
            <a:off x="6278727" y="4709160"/>
            <a:ext cx="5410047" cy="1234440"/>
          </a:xfrm>
          <a:prstGeom prst="rect">
            <a:avLst/>
          </a:prstGeom>
          <a:solidFill>
            <a:srgbClr val="DCF2F0"/>
          </a:solidFill>
          <a:ln w="19050">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78727" y="4709160"/>
            <a:ext cx="54864" cy="1234440"/>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61607" y="4873752"/>
            <a:ext cx="5154015" cy="914400"/>
          </a:xfrm>
          <a:prstGeom prst="rect">
            <a:avLst/>
          </a:prstGeom>
          <a:noFill/>
        </p:spPr>
        <p:txBody>
          <a:bodyPr wrap="square">
            <a:spAutoFit/>
          </a:bodyPr>
          <a:lstStyle/>
          <a:p>
            <a:pPr algn="l"/>
            <a:r>
              <a:rPr sz="1200" b="0" i="1">
                <a:solidFill>
                  <a:srgbClr val="006B72"/>
                </a:solidFill>
                <a:latin typeface="Calibri"/>
              </a:rPr>
              <a:t>A camera-based return verification system is technically plausible. The question is whether it solves the right problem, and whether the investment is justified given what we're learning about where containers are actually being lost.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